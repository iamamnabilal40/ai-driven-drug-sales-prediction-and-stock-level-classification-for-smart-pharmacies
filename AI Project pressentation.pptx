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3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36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55330-8624-4B4B-8736-1AD6E22BEEB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95F3B-EC05-49C2-BE15-8781DEB7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95F3B-EC05-49C2-BE15-8781DEB7EF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1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52750" y="3862181"/>
            <a:ext cx="5933440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3434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3434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2288" y="5245913"/>
            <a:ext cx="1295772" cy="16256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036" y="788322"/>
            <a:ext cx="9192260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26262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5390" y="3072938"/>
            <a:ext cx="8098790" cy="282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3434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ishtimes.com/health/2025/09/12/pharmacy-sector-to-receive-additional-75m-under-new-agreement-with-state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6060" y="3015614"/>
            <a:ext cx="15831978" cy="5293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7002" y="3722788"/>
            <a:ext cx="13883005" cy="1517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800" spc="-480" dirty="0">
                <a:solidFill>
                  <a:srgbClr val="2B2B2B"/>
                </a:solidFill>
              </a:rPr>
              <a:t>Smart</a:t>
            </a:r>
            <a:r>
              <a:rPr sz="9800" spc="125" dirty="0">
                <a:solidFill>
                  <a:srgbClr val="2B2B2B"/>
                </a:solidFill>
              </a:rPr>
              <a:t> </a:t>
            </a:r>
            <a:r>
              <a:rPr sz="9800" spc="-500" dirty="0">
                <a:solidFill>
                  <a:srgbClr val="2B2B2B"/>
                </a:solidFill>
              </a:rPr>
              <a:t>Pharmacy</a:t>
            </a:r>
            <a:r>
              <a:rPr sz="9800" spc="370" dirty="0">
                <a:solidFill>
                  <a:srgbClr val="2B2B2B"/>
                </a:solidFill>
              </a:rPr>
              <a:t> </a:t>
            </a:r>
            <a:r>
              <a:rPr sz="9800" spc="-105" dirty="0">
                <a:solidFill>
                  <a:srgbClr val="282828"/>
                </a:solidFill>
              </a:rPr>
              <a:t>Inventory</a:t>
            </a:r>
            <a:endParaRPr sz="9800"/>
          </a:p>
        </p:txBody>
      </p:sp>
      <p:sp>
        <p:nvSpPr>
          <p:cNvPr id="4" name="object 4"/>
          <p:cNvSpPr txBox="1"/>
          <p:nvPr/>
        </p:nvSpPr>
        <p:spPr>
          <a:xfrm>
            <a:off x="4326841" y="5515927"/>
            <a:ext cx="11461115" cy="19505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100" spc="-215" dirty="0">
                <a:solidFill>
                  <a:srgbClr val="936B67"/>
                </a:solidFill>
                <a:latin typeface="Courier New"/>
                <a:cs typeface="Courier New"/>
              </a:rPr>
              <a:t>AI-</a:t>
            </a:r>
            <a:r>
              <a:rPr sz="3100" spc="-114" dirty="0">
                <a:solidFill>
                  <a:srgbClr val="936B67"/>
                </a:solidFill>
                <a:latin typeface="Courier New"/>
                <a:cs typeface="Courier New"/>
              </a:rPr>
              <a:t>Powered</a:t>
            </a:r>
            <a:r>
              <a:rPr sz="3100" spc="-150" dirty="0">
                <a:solidFill>
                  <a:srgbClr val="936B67"/>
                </a:solidFill>
                <a:latin typeface="Courier New"/>
                <a:cs typeface="Courier New"/>
              </a:rPr>
              <a:t> </a:t>
            </a:r>
            <a:r>
              <a:rPr sz="3100" spc="-114" dirty="0">
                <a:solidFill>
                  <a:srgbClr val="82675E"/>
                </a:solidFill>
                <a:latin typeface="Courier New"/>
                <a:cs typeface="Courier New"/>
              </a:rPr>
              <a:t>Demand</a:t>
            </a:r>
            <a:r>
              <a:rPr sz="3100" spc="-220" dirty="0">
                <a:solidFill>
                  <a:srgbClr val="82675E"/>
                </a:solidFill>
                <a:latin typeface="Courier New"/>
                <a:cs typeface="Courier New"/>
              </a:rPr>
              <a:t> </a:t>
            </a:r>
            <a:r>
              <a:rPr sz="3100" spc="-155" dirty="0">
                <a:solidFill>
                  <a:srgbClr val="897069"/>
                </a:solidFill>
                <a:latin typeface="Courier New"/>
                <a:cs typeface="Courier New"/>
              </a:rPr>
              <a:t>Forecasting</a:t>
            </a:r>
            <a:r>
              <a:rPr sz="3100" spc="-300" dirty="0">
                <a:solidFill>
                  <a:srgbClr val="89706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957570"/>
                </a:solidFill>
                <a:latin typeface="Courier New"/>
                <a:cs typeface="Courier New"/>
              </a:rPr>
              <a:t>&amp;</a:t>
            </a:r>
            <a:r>
              <a:rPr sz="3100" spc="-345" dirty="0">
                <a:solidFill>
                  <a:srgbClr val="957570"/>
                </a:solidFill>
                <a:latin typeface="Courier New"/>
                <a:cs typeface="Courier New"/>
              </a:rPr>
              <a:t> </a:t>
            </a:r>
            <a:r>
              <a:rPr sz="3100" spc="-100" dirty="0">
                <a:solidFill>
                  <a:srgbClr val="876E6D"/>
                </a:solidFill>
                <a:latin typeface="Courier New"/>
                <a:cs typeface="Courier New"/>
              </a:rPr>
              <a:t>Stock</a:t>
            </a:r>
            <a:r>
              <a:rPr sz="3100" spc="-320" dirty="0">
                <a:solidFill>
                  <a:srgbClr val="876E6D"/>
                </a:solidFill>
                <a:latin typeface="Courier New"/>
                <a:cs typeface="Courier New"/>
              </a:rPr>
              <a:t> </a:t>
            </a:r>
            <a:r>
              <a:rPr sz="3100" spc="-75" dirty="0">
                <a:solidFill>
                  <a:srgbClr val="7E7069"/>
                </a:solidFill>
                <a:latin typeface="Courier New"/>
                <a:cs typeface="Courier New"/>
              </a:rPr>
              <a:t>Classification</a:t>
            </a:r>
            <a:endParaRPr sz="31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3100" dirty="0">
              <a:latin typeface="Courier New"/>
              <a:cs typeface="Courier New"/>
            </a:endParaRPr>
          </a:p>
          <a:p>
            <a:pPr marR="26670" algn="ctr">
              <a:lnSpc>
                <a:spcPct val="100000"/>
              </a:lnSpc>
            </a:pPr>
            <a:r>
              <a:rPr sz="2450" spc="50" dirty="0">
                <a:solidFill>
                  <a:srgbClr val="383838"/>
                </a:solidFill>
                <a:latin typeface="Calibri"/>
                <a:cs typeface="Calibri"/>
              </a:rPr>
              <a:t>Presented</a:t>
            </a:r>
            <a:r>
              <a:rPr sz="2450" spc="2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464646"/>
                </a:solidFill>
                <a:latin typeface="Calibri"/>
                <a:cs typeface="Calibri"/>
              </a:rPr>
              <a:t>by:</a:t>
            </a:r>
            <a:r>
              <a:rPr sz="2450" spc="20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450" spc="60" dirty="0">
                <a:solidFill>
                  <a:srgbClr val="3D3D3D"/>
                </a:solidFill>
                <a:latin typeface="Calibri"/>
                <a:cs typeface="Calibri"/>
              </a:rPr>
              <a:t>[</a:t>
            </a:r>
            <a:r>
              <a:rPr lang="en-US" sz="2450" spc="60" dirty="0">
                <a:solidFill>
                  <a:srgbClr val="3D3D3D"/>
                </a:solidFill>
                <a:latin typeface="Calibri"/>
                <a:cs typeface="Calibri"/>
              </a:rPr>
              <a:t>Amna Bilal 09-239242-020</a:t>
            </a:r>
            <a:r>
              <a:rPr sz="2450" dirty="0">
                <a:solidFill>
                  <a:srgbClr val="3B3B3B"/>
                </a:solidFill>
                <a:latin typeface="Calibri"/>
                <a:cs typeface="Calibri"/>
              </a:rPr>
              <a:t>]</a:t>
            </a:r>
            <a:r>
              <a:rPr sz="2450" spc="-17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endParaRPr lang="en-US" sz="2450" spc="-175" dirty="0">
              <a:solidFill>
                <a:srgbClr val="464646"/>
              </a:solidFill>
              <a:latin typeface="Calibri"/>
              <a:cs typeface="Calibri"/>
            </a:endParaRPr>
          </a:p>
          <a:p>
            <a:pPr marR="26670" algn="ctr">
              <a:lnSpc>
                <a:spcPct val="100000"/>
              </a:lnSpc>
            </a:pPr>
            <a:r>
              <a:rPr lang="en-US" sz="2450" spc="-175" dirty="0">
                <a:solidFill>
                  <a:srgbClr val="464646"/>
                </a:solidFill>
                <a:latin typeface="Calibri"/>
                <a:cs typeface="Calibri"/>
              </a:rPr>
              <a:t>                                     [ Khadija </a:t>
            </a:r>
            <a:r>
              <a:rPr lang="en-US" sz="2450" spc="-175" dirty="0" err="1">
                <a:solidFill>
                  <a:srgbClr val="464646"/>
                </a:solidFill>
                <a:latin typeface="Calibri"/>
                <a:cs typeface="Calibri"/>
              </a:rPr>
              <a:t>Moeen</a:t>
            </a:r>
            <a:r>
              <a:rPr lang="en-US" sz="2450" spc="-175" dirty="0">
                <a:solidFill>
                  <a:srgbClr val="464646"/>
                </a:solidFill>
                <a:latin typeface="Calibri"/>
                <a:cs typeface="Calibri"/>
              </a:rPr>
              <a:t>  09-239242-050 ]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05488" y="4872888"/>
            <a:ext cx="2356485" cy="0"/>
          </a:xfrm>
          <a:custGeom>
            <a:avLst/>
            <a:gdLst/>
            <a:ahLst/>
            <a:cxnLst/>
            <a:rect l="l" t="t" r="r" b="b"/>
            <a:pathLst>
              <a:path w="2356484">
                <a:moveTo>
                  <a:pt x="0" y="0"/>
                </a:moveTo>
                <a:lnTo>
                  <a:pt x="2355949" y="0"/>
                </a:lnTo>
              </a:path>
            </a:pathLst>
          </a:custGeom>
          <a:ln w="54972">
            <a:solidFill>
              <a:srgbClr val="745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97192" y="5342503"/>
            <a:ext cx="3074670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110" dirty="0">
                <a:solidFill>
                  <a:srgbClr val="262626"/>
                </a:solidFill>
                <a:latin typeface="Calibri"/>
                <a:cs typeface="Calibri"/>
              </a:rPr>
              <a:t>Project</a:t>
            </a:r>
            <a:r>
              <a:rPr sz="3200" spc="18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212121"/>
                </a:solidFill>
                <a:latin typeface="Calibri"/>
                <a:cs typeface="Calibri"/>
              </a:rPr>
              <a:t>Overview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3604" y="6127820"/>
            <a:ext cx="10788015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43710" algn="l"/>
                <a:tab pos="4170045" algn="l"/>
                <a:tab pos="6609080" algn="l"/>
                <a:tab pos="8127365" algn="l"/>
                <a:tab pos="9462770" algn="l"/>
              </a:tabLst>
            </a:pPr>
            <a:r>
              <a:rPr sz="3200" spc="95" dirty="0">
                <a:solidFill>
                  <a:srgbClr val="807460"/>
                </a:solidFill>
                <a:latin typeface="Calibri"/>
                <a:cs typeface="Calibri"/>
              </a:rPr>
              <a:t>So1v1ng</a:t>
            </a:r>
            <a:r>
              <a:rPr sz="3200" dirty="0">
                <a:solidFill>
                  <a:srgbClr val="807460"/>
                </a:solidFill>
                <a:latin typeface="Calibri"/>
                <a:cs typeface="Calibri"/>
              </a:rPr>
              <a:t>	</a:t>
            </a:r>
            <a:r>
              <a:rPr sz="3200" spc="65" dirty="0">
                <a:solidFill>
                  <a:srgbClr val="89725B"/>
                </a:solidFill>
                <a:latin typeface="Calibri"/>
                <a:cs typeface="Calibri"/>
              </a:rPr>
              <a:t>Rea1-</a:t>
            </a:r>
            <a:r>
              <a:rPr sz="3200" spc="75" dirty="0">
                <a:solidFill>
                  <a:srgbClr val="89725B"/>
                </a:solidFill>
                <a:latin typeface="Calibri"/>
                <a:cs typeface="Calibri"/>
              </a:rPr>
              <a:t>Wor1d</a:t>
            </a:r>
            <a:r>
              <a:rPr sz="3200" dirty="0">
                <a:solidFill>
                  <a:srgbClr val="89725B"/>
                </a:solidFill>
                <a:latin typeface="Calibri"/>
                <a:cs typeface="Calibri"/>
              </a:rPr>
              <a:t>	</a:t>
            </a:r>
            <a:r>
              <a:rPr sz="3200" spc="195" dirty="0">
                <a:solidFill>
                  <a:srgbClr val="897266"/>
                </a:solidFill>
                <a:latin typeface="Calibri"/>
                <a:cs typeface="Calibri"/>
              </a:rPr>
              <a:t>Hea1thcare</a:t>
            </a:r>
            <a:r>
              <a:rPr sz="3200" dirty="0">
                <a:solidFill>
                  <a:srgbClr val="897266"/>
                </a:solidFill>
                <a:latin typeface="Calibri"/>
                <a:cs typeface="Calibri"/>
              </a:rPr>
              <a:t>	</a:t>
            </a:r>
            <a:r>
              <a:rPr sz="3200" spc="65" dirty="0">
                <a:solidFill>
                  <a:srgbClr val="85725E"/>
                </a:solidFill>
                <a:latin typeface="Calibri"/>
                <a:cs typeface="Calibri"/>
              </a:rPr>
              <a:t>Supp1y</a:t>
            </a:r>
            <a:r>
              <a:rPr sz="3200" dirty="0">
                <a:solidFill>
                  <a:srgbClr val="85725E"/>
                </a:solidFill>
                <a:latin typeface="Calibri"/>
                <a:cs typeface="Calibri"/>
              </a:rPr>
              <a:t>	</a:t>
            </a:r>
            <a:r>
              <a:rPr sz="3200" spc="280" dirty="0">
                <a:solidFill>
                  <a:srgbClr val="85705D"/>
                </a:solidFill>
                <a:latin typeface="Calibri"/>
                <a:cs typeface="Calibri"/>
              </a:rPr>
              <a:t>Cha</a:t>
            </a:r>
            <a:r>
              <a:rPr lang="en-US" sz="3200" spc="280" dirty="0">
                <a:solidFill>
                  <a:srgbClr val="85705D"/>
                </a:solidFill>
                <a:latin typeface="Calibri"/>
                <a:cs typeface="Calibri"/>
              </a:rPr>
              <a:t>i</a:t>
            </a:r>
            <a:r>
              <a:rPr sz="3200" spc="280" dirty="0">
                <a:solidFill>
                  <a:srgbClr val="85705D"/>
                </a:solidFill>
                <a:latin typeface="Calibri"/>
                <a:cs typeface="Calibri"/>
              </a:rPr>
              <a:t>n</a:t>
            </a:r>
            <a:r>
              <a:rPr sz="3200" dirty="0">
                <a:solidFill>
                  <a:srgbClr val="85705D"/>
                </a:solidFill>
                <a:latin typeface="Calibri"/>
                <a:cs typeface="Calibri"/>
              </a:rPr>
              <a:t>	</a:t>
            </a:r>
            <a:r>
              <a:rPr sz="3200" spc="385" dirty="0">
                <a:solidFill>
                  <a:srgbClr val="9C706B"/>
                </a:solidFill>
                <a:latin typeface="Calibri"/>
                <a:cs typeface="Calibri"/>
              </a:rPr>
              <a:t>Issues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56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z="8700" spc="719" baseline="-10057" dirty="0">
                <a:solidFill>
                  <a:srgbClr val="775646"/>
                </a:solidFill>
              </a:rPr>
              <a:t>I</a:t>
            </a:r>
            <a:r>
              <a:rPr sz="8700" spc="644" baseline="-10057" dirty="0">
                <a:solidFill>
                  <a:srgbClr val="775646"/>
                </a:solidFill>
              </a:rPr>
              <a:t> </a:t>
            </a:r>
            <a:r>
              <a:rPr sz="5800" dirty="0">
                <a:solidFill>
                  <a:srgbClr val="2B2B2B"/>
                </a:solidFill>
              </a:rPr>
              <a:t>The</a:t>
            </a:r>
            <a:r>
              <a:rPr sz="5800" spc="55" dirty="0">
                <a:solidFill>
                  <a:srgbClr val="2B2B2B"/>
                </a:solidFill>
              </a:rPr>
              <a:t> </a:t>
            </a:r>
            <a:r>
              <a:rPr sz="5800" dirty="0">
                <a:solidFill>
                  <a:srgbClr val="2A2A2A"/>
                </a:solidFill>
              </a:rPr>
              <a:t>Problem</a:t>
            </a:r>
            <a:r>
              <a:rPr sz="5800" spc="225" dirty="0">
                <a:solidFill>
                  <a:srgbClr val="2A2A2A"/>
                </a:solidFill>
              </a:rPr>
              <a:t> </a:t>
            </a:r>
            <a:r>
              <a:rPr sz="5800" spc="-355" dirty="0">
                <a:solidFill>
                  <a:srgbClr val="2B2B2B"/>
                </a:solidFill>
              </a:rPr>
              <a:t>We</a:t>
            </a:r>
            <a:r>
              <a:rPr sz="5800" spc="45" dirty="0">
                <a:solidFill>
                  <a:srgbClr val="2B2B2B"/>
                </a:solidFill>
              </a:rPr>
              <a:t> </a:t>
            </a:r>
            <a:r>
              <a:rPr sz="5800" spc="-10" dirty="0">
                <a:solidFill>
                  <a:srgbClr val="2A2A2A"/>
                </a:solidFill>
              </a:rPr>
              <a:t>Solve</a:t>
            </a:r>
            <a:endParaRPr sz="580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321EA17-858A-41AD-8089-9CFB24773B97}"/>
              </a:ext>
            </a:extLst>
          </p:cNvPr>
          <p:cNvSpPr/>
          <p:nvPr/>
        </p:nvSpPr>
        <p:spPr>
          <a:xfrm>
            <a:off x="1031696" y="3825875"/>
            <a:ext cx="8991600" cy="4800600"/>
          </a:xfrm>
          <a:prstGeom prst="cloud">
            <a:avLst/>
          </a:prstGeom>
          <a:solidFill>
            <a:srgbClr val="5D394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825763" y="4968875"/>
            <a:ext cx="7403465" cy="212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250" dirty="0">
                <a:solidFill>
                  <a:schemeClr val="bg1"/>
                </a:solidFill>
                <a:latin typeface="Arial MT"/>
                <a:cs typeface="Arial MT"/>
              </a:rPr>
              <a:t>Medicine</a:t>
            </a:r>
            <a:r>
              <a:rPr sz="4250" spc="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chemeClr val="bg1"/>
                </a:solidFill>
                <a:latin typeface="Arial MT"/>
                <a:cs typeface="Arial MT"/>
              </a:rPr>
              <a:t>Shonages</a:t>
            </a:r>
            <a:endParaRPr sz="42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6510" marR="5080" indent="635" algn="ctr">
              <a:lnSpc>
                <a:spcPct val="113599"/>
              </a:lnSpc>
              <a:spcBef>
                <a:spcPts val="1430"/>
              </a:spcBef>
            </a:pPr>
            <a:r>
              <a:rPr sz="2450" spc="-195" dirty="0">
                <a:solidFill>
                  <a:schemeClr val="bg1"/>
                </a:solidFill>
                <a:latin typeface="Arial MT"/>
                <a:cs typeface="Arial MT"/>
              </a:rPr>
              <a:t>When</a:t>
            </a:r>
            <a:r>
              <a:rPr sz="2450" spc="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5" dirty="0">
                <a:solidFill>
                  <a:schemeClr val="bg1"/>
                </a:solidFill>
                <a:latin typeface="Arial MT"/>
                <a:cs typeface="Arial MT"/>
              </a:rPr>
              <a:t>pharmacies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run</a:t>
            </a:r>
            <a:r>
              <a:rPr sz="245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out</a:t>
            </a:r>
            <a:r>
              <a:rPr sz="245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chemeClr val="bg1"/>
                </a:solidFill>
                <a:latin typeface="Arial MT"/>
                <a:cs typeface="Arial MT"/>
              </a:rPr>
              <a:t>life</a:t>
            </a:r>
            <a:r>
              <a:rPr lang="en-US" sz="245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4" dirty="0">
                <a:solidFill>
                  <a:schemeClr val="bg1"/>
                </a:solidFill>
                <a:latin typeface="Arial MT"/>
                <a:cs typeface="Arial MT"/>
              </a:rPr>
              <a:t>saving</a:t>
            </a:r>
            <a:r>
              <a:rPr sz="2450" spc="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drugs</a:t>
            </a:r>
            <a:r>
              <a:rPr sz="2450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(Stock-</a:t>
            </a:r>
            <a:r>
              <a:rPr sz="2450" spc="-10" dirty="0">
                <a:solidFill>
                  <a:schemeClr val="bg1"/>
                </a:solidFill>
                <a:latin typeface="Arial MT"/>
                <a:cs typeface="Arial MT"/>
              </a:rPr>
              <a:t>outs), </a:t>
            </a:r>
            <a:r>
              <a:rPr sz="2450" spc="-114" dirty="0">
                <a:solidFill>
                  <a:schemeClr val="bg1"/>
                </a:solidFill>
                <a:latin typeface="Arial MT"/>
                <a:cs typeface="Arial MT"/>
              </a:rPr>
              <a:t>patient</a:t>
            </a:r>
            <a:r>
              <a:rPr sz="245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0" dirty="0">
                <a:solidFill>
                  <a:schemeClr val="bg1"/>
                </a:solidFill>
                <a:latin typeface="Arial MT"/>
                <a:cs typeface="Arial MT"/>
              </a:rPr>
              <a:t>lives</a:t>
            </a:r>
            <a:r>
              <a:rPr sz="245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chemeClr val="bg1"/>
                </a:solidFill>
                <a:latin typeface="Arial MT"/>
                <a:cs typeface="Arial MT"/>
              </a:rPr>
              <a:t>are</a:t>
            </a:r>
            <a:r>
              <a:rPr sz="2450" spc="-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chemeClr val="bg1"/>
                </a:solidFill>
                <a:latin typeface="Arial MT"/>
                <a:cs typeface="Arial MT"/>
              </a:rPr>
              <a:t>put</a:t>
            </a:r>
            <a:r>
              <a:rPr sz="245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95" dirty="0">
                <a:solidFill>
                  <a:schemeClr val="bg1"/>
                </a:solidFill>
                <a:latin typeface="Arial MT"/>
                <a:cs typeface="Arial MT"/>
              </a:rPr>
              <a:t>at</a:t>
            </a:r>
            <a:r>
              <a:rPr sz="2450" spc="-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chemeClr val="bg1"/>
                </a:solidFill>
                <a:latin typeface="Arial MT"/>
                <a:cs typeface="Arial MT"/>
              </a:rPr>
              <a:t>risk.</a:t>
            </a:r>
            <a:r>
              <a:rPr sz="245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204" dirty="0">
                <a:solidFill>
                  <a:schemeClr val="bg1"/>
                </a:solidFill>
                <a:latin typeface="Arial MT"/>
                <a:cs typeface="Arial MT"/>
              </a:rPr>
              <a:t>Our</a:t>
            </a:r>
            <a:r>
              <a:rPr sz="2450" spc="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50" dirty="0">
                <a:solidFill>
                  <a:schemeClr val="bg1"/>
                </a:solidFill>
                <a:latin typeface="Arial MT"/>
                <a:cs typeface="Arial MT"/>
              </a:rPr>
              <a:t>AI</a:t>
            </a:r>
            <a:r>
              <a:rPr sz="2450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ensures</a:t>
            </a:r>
            <a:r>
              <a:rPr sz="2450" spc="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235" dirty="0">
                <a:solidFill>
                  <a:schemeClr val="bg1"/>
                </a:solidFill>
                <a:latin typeface="Arial MT"/>
                <a:cs typeface="Arial MT"/>
              </a:rPr>
              <a:t>we</a:t>
            </a:r>
            <a:r>
              <a:rPr sz="2450" spc="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order</a:t>
            </a:r>
            <a:r>
              <a:rPr sz="2450" spc="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60" dirty="0">
                <a:solidFill>
                  <a:schemeClr val="bg1"/>
                </a:solidFill>
                <a:latin typeface="Arial MT"/>
                <a:cs typeface="Arial MT"/>
              </a:rPr>
              <a:t>before </a:t>
            </a:r>
            <a:r>
              <a:rPr sz="2450" spc="-185" dirty="0">
                <a:solidFill>
                  <a:schemeClr val="bg1"/>
                </a:solidFill>
                <a:latin typeface="Arial MT"/>
                <a:cs typeface="Arial MT"/>
              </a:rPr>
              <a:t>we</a:t>
            </a:r>
            <a:r>
              <a:rPr sz="245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run</a:t>
            </a:r>
            <a:r>
              <a:rPr sz="245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chemeClr val="bg1"/>
                </a:solidFill>
                <a:latin typeface="Arial MT"/>
                <a:cs typeface="Arial MT"/>
              </a:rPr>
              <a:t>out.</a:t>
            </a:r>
            <a:endParaRPr sz="24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97A2EFE3-F7B7-4CED-A7F1-BEE642E9D2AC}"/>
              </a:ext>
            </a:extLst>
          </p:cNvPr>
          <p:cNvSpPr/>
          <p:nvPr/>
        </p:nvSpPr>
        <p:spPr>
          <a:xfrm>
            <a:off x="10585450" y="3624262"/>
            <a:ext cx="8991600" cy="4800600"/>
          </a:xfrm>
          <a:prstGeom prst="cloud">
            <a:avLst/>
          </a:prstGeom>
          <a:solidFill>
            <a:srgbClr val="5D394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11880850" y="4952365"/>
            <a:ext cx="6844030" cy="21443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4350" spc="-25" dirty="0">
                <a:solidFill>
                  <a:schemeClr val="bg1"/>
                </a:solidFill>
                <a:latin typeface="Arial MT"/>
                <a:cs typeface="Arial MT"/>
              </a:rPr>
              <a:t>Medicine</a:t>
            </a:r>
            <a:r>
              <a:rPr sz="4350" spc="-2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4350" spc="-20" dirty="0">
                <a:solidFill>
                  <a:schemeClr val="bg1"/>
                </a:solidFill>
                <a:latin typeface="Arial MT"/>
                <a:cs typeface="Arial MT"/>
              </a:rPr>
              <a:t>Wastage</a:t>
            </a:r>
            <a:endParaRPr sz="43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85" marR="5080" indent="3175" algn="ctr">
              <a:lnSpc>
                <a:spcPct val="113599"/>
              </a:lnSpc>
              <a:spcBef>
                <a:spcPts val="1410"/>
              </a:spcBef>
            </a:pPr>
            <a:r>
              <a:rPr sz="2450" spc="-150" dirty="0">
                <a:solidFill>
                  <a:schemeClr val="bg1"/>
                </a:solidFill>
                <a:latin typeface="Arial MT"/>
                <a:cs typeface="Arial MT"/>
              </a:rPr>
              <a:t>Buying</a:t>
            </a:r>
            <a:r>
              <a:rPr sz="2450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too</a:t>
            </a:r>
            <a:r>
              <a:rPr sz="245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70" dirty="0">
                <a:solidFill>
                  <a:schemeClr val="bg1"/>
                </a:solidFill>
                <a:latin typeface="Arial MT"/>
                <a:cs typeface="Arial MT"/>
              </a:rPr>
              <a:t>much</a:t>
            </a:r>
            <a:r>
              <a:rPr sz="2450" spc="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stock</a:t>
            </a:r>
            <a:r>
              <a:rPr sz="245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leads</a:t>
            </a:r>
            <a:r>
              <a:rPr sz="2450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75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45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expired</a:t>
            </a:r>
            <a:r>
              <a:rPr sz="245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medicines</a:t>
            </a:r>
            <a:r>
              <a:rPr sz="2450" spc="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and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financial</a:t>
            </a:r>
            <a:r>
              <a:rPr sz="2450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chemeClr val="bg1"/>
                </a:solidFill>
                <a:latin typeface="Arial MT"/>
                <a:cs typeface="Arial MT"/>
              </a:rPr>
              <a:t>loss.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95" dirty="0">
                <a:solidFill>
                  <a:schemeClr val="bg1"/>
                </a:solidFill>
                <a:latin typeface="Arial MT"/>
                <a:cs typeface="Arial MT"/>
              </a:rPr>
              <a:t>We</a:t>
            </a:r>
            <a:r>
              <a:rPr sz="2450" spc="-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chemeClr val="bg1"/>
                </a:solidFill>
                <a:latin typeface="Arial MT"/>
                <a:cs typeface="Arial MT"/>
              </a:rPr>
              <a:t>calculate</a:t>
            </a:r>
            <a:r>
              <a:rPr sz="24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5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4" dirty="0">
                <a:solidFill>
                  <a:schemeClr val="bg1"/>
                </a:solidFill>
                <a:latin typeface="Arial MT"/>
                <a:cs typeface="Arial MT"/>
              </a:rPr>
              <a:t>exact</a:t>
            </a:r>
            <a:r>
              <a:rPr sz="245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55" dirty="0">
                <a:solidFill>
                  <a:schemeClr val="bg1"/>
                </a:solidFill>
                <a:latin typeface="Arial MT"/>
                <a:cs typeface="Arial MT"/>
              </a:rPr>
              <a:t>need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85" dirty="0">
                <a:solidFill>
                  <a:schemeClr val="bg1"/>
                </a:solidFill>
                <a:latin typeface="Arial MT"/>
                <a:cs typeface="Arial MT"/>
              </a:rPr>
              <a:t>to </a:t>
            </a:r>
            <a:r>
              <a:rPr sz="2450" spc="-10" dirty="0">
                <a:solidFill>
                  <a:schemeClr val="bg1"/>
                </a:solidFill>
                <a:latin typeface="Arial MT"/>
                <a:cs typeface="Arial MT"/>
              </a:rPr>
              <a:t>reduce </a:t>
            </a:r>
            <a:r>
              <a:rPr sz="2450" spc="-30" dirty="0">
                <a:solidFill>
                  <a:schemeClr val="bg1"/>
                </a:solidFill>
                <a:latin typeface="Arial MT"/>
                <a:cs typeface="Arial MT"/>
              </a:rPr>
              <a:t>wastage.</a:t>
            </a:r>
            <a:endParaRPr sz="24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1036" y="827588"/>
            <a:ext cx="8590280" cy="968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59435" algn="l"/>
              </a:tabLst>
            </a:pPr>
            <a:r>
              <a:rPr sz="9225" spc="-75" baseline="-9033" dirty="0">
                <a:solidFill>
                  <a:srgbClr val="775646"/>
                </a:solidFill>
              </a:rPr>
              <a:t>I</a:t>
            </a:r>
            <a:r>
              <a:rPr sz="9225" baseline="-9033" dirty="0">
                <a:solidFill>
                  <a:srgbClr val="775646"/>
                </a:solidFill>
              </a:rPr>
              <a:t>	</a:t>
            </a:r>
            <a:r>
              <a:rPr sz="6150" spc="-75" dirty="0">
                <a:solidFill>
                  <a:srgbClr val="242424"/>
                </a:solidFill>
              </a:rPr>
              <a:t>Understanding</a:t>
            </a:r>
            <a:r>
              <a:rPr sz="6150" spc="-185" dirty="0">
                <a:solidFill>
                  <a:srgbClr val="242424"/>
                </a:solidFill>
              </a:rPr>
              <a:t> </a:t>
            </a:r>
            <a:r>
              <a:rPr sz="6150" spc="-25" dirty="0">
                <a:solidFill>
                  <a:srgbClr val="2B2B2B"/>
                </a:solidFill>
              </a:rPr>
              <a:t>the</a:t>
            </a:r>
            <a:r>
              <a:rPr sz="6150" spc="-400" dirty="0">
                <a:solidFill>
                  <a:srgbClr val="2B2B2B"/>
                </a:solidFill>
              </a:rPr>
              <a:t> </a:t>
            </a:r>
            <a:r>
              <a:rPr sz="6150" spc="-60" dirty="0">
                <a:solidFill>
                  <a:srgbClr val="242424"/>
                </a:solidFill>
              </a:rPr>
              <a:t>Data</a:t>
            </a:r>
            <a:endParaRPr sz="6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84250" y="2225675"/>
            <a:ext cx="6554014" cy="1266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pc="-195" dirty="0">
                <a:solidFill>
                  <a:schemeClr val="tx1"/>
                </a:solidFill>
              </a:rPr>
              <a:t>We</a:t>
            </a:r>
            <a:r>
              <a:rPr spc="-65" dirty="0">
                <a:solidFill>
                  <a:schemeClr val="tx1"/>
                </a:solidFill>
              </a:rPr>
              <a:t> </a:t>
            </a:r>
            <a:r>
              <a:rPr spc="-125" dirty="0">
                <a:solidFill>
                  <a:schemeClr val="tx1"/>
                </a:solidFill>
              </a:rPr>
              <a:t>analyze</a:t>
            </a:r>
            <a:r>
              <a:rPr spc="30" dirty="0">
                <a:solidFill>
                  <a:schemeClr val="tx1"/>
                </a:solidFill>
              </a:rPr>
              <a:t> </a:t>
            </a:r>
            <a:r>
              <a:rPr spc="-170" dirty="0">
                <a:solidFill>
                  <a:schemeClr val="tx1"/>
                </a:solidFill>
              </a:rPr>
              <a:t>6</a:t>
            </a:r>
            <a:r>
              <a:rPr spc="-110" dirty="0">
                <a:solidFill>
                  <a:schemeClr val="tx1"/>
                </a:solidFill>
              </a:rPr>
              <a:t> </a:t>
            </a:r>
            <a:r>
              <a:rPr spc="-125" dirty="0">
                <a:solidFill>
                  <a:schemeClr val="tx1"/>
                </a:solidFill>
              </a:rPr>
              <a:t>years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105" dirty="0">
                <a:solidFill>
                  <a:schemeClr val="tx1"/>
                </a:solidFill>
              </a:rPr>
              <a:t>of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pharmaceutical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125" dirty="0">
                <a:solidFill>
                  <a:schemeClr val="tx1"/>
                </a:solidFill>
              </a:rPr>
              <a:t>sales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114" dirty="0">
                <a:solidFill>
                  <a:schemeClr val="tx1"/>
                </a:solidFill>
              </a:rPr>
              <a:t>data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across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105" dirty="0">
                <a:solidFill>
                  <a:schemeClr val="tx1"/>
                </a:solidFill>
              </a:rPr>
              <a:t>8</a:t>
            </a:r>
            <a:r>
              <a:rPr spc="-11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major </a:t>
            </a:r>
            <a:r>
              <a:rPr spc="-114" dirty="0">
                <a:solidFill>
                  <a:schemeClr val="tx1"/>
                </a:solidFill>
              </a:rPr>
              <a:t>categories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spc="-195" dirty="0">
                <a:solidFill>
                  <a:schemeClr val="tx1"/>
                </a:solidFill>
              </a:rPr>
              <a:t>(</a:t>
            </a:r>
            <a:r>
              <a:rPr lang="en-US" spc="-195" dirty="0">
                <a:solidFill>
                  <a:schemeClr val="tx1"/>
                </a:solidFill>
              </a:rPr>
              <a:t> </a:t>
            </a:r>
            <a:r>
              <a:rPr lang="en-US" dirty="0"/>
              <a:t>Anatomical Therapeutic Chemical-</a:t>
            </a:r>
            <a:r>
              <a:rPr spc="-195" dirty="0">
                <a:solidFill>
                  <a:schemeClr val="tx1"/>
                </a:solidFill>
              </a:rPr>
              <a:t>ATC</a:t>
            </a:r>
            <a:r>
              <a:rPr spc="3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Codes):</a:t>
            </a:r>
          </a:p>
        </p:txBody>
      </p:sp>
      <p:pic>
        <p:nvPicPr>
          <p:cNvPr id="1028" name="Picture 4" descr="Diclofenac Potassium – Preferred Drugs">
            <a:extLst>
              <a:ext uri="{FF2B5EF4-FFF2-40B4-BE49-F238E27FC236}">
                <a16:creationId xmlns:a16="http://schemas.microsoft.com/office/drawing/2014/main" id="{56909F91-D4FE-40A4-9688-DB4DE31A5B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65" b="6765"/>
          <a:stretch/>
        </p:blipFill>
        <p:spPr bwMode="auto">
          <a:xfrm>
            <a:off x="2203451" y="4745036"/>
            <a:ext cx="2666998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racetamol Tablet: Uses, Formula, Side Effects ...">
            <a:extLst>
              <a:ext uri="{FF2B5EF4-FFF2-40B4-BE49-F238E27FC236}">
                <a16:creationId xmlns:a16="http://schemas.microsoft.com/office/drawing/2014/main" id="{9F24CAE9-FA95-457E-87C6-3419E83276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39"/>
          <a:stretch/>
        </p:blipFill>
        <p:spPr bwMode="auto">
          <a:xfrm>
            <a:off x="2203450" y="8336478"/>
            <a:ext cx="2666999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lbuterol Sulfate Inhaler Inhalation Solution - Breathe Easier">
            <a:extLst>
              <a:ext uri="{FF2B5EF4-FFF2-40B4-BE49-F238E27FC236}">
                <a16:creationId xmlns:a16="http://schemas.microsoft.com/office/drawing/2014/main" id="{7CFEE768-301E-4FF9-BC49-0D3191C89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2714" y="4745036"/>
            <a:ext cx="2771772" cy="213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at are Benzos?">
            <a:extLst>
              <a:ext uri="{FF2B5EF4-FFF2-40B4-BE49-F238E27FC236}">
                <a16:creationId xmlns:a16="http://schemas.microsoft.com/office/drawing/2014/main" id="{02B2D47C-180D-4164-8016-4587B52D2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" t="36051" r="6725" b="8085"/>
          <a:stretch/>
        </p:blipFill>
        <p:spPr bwMode="auto">
          <a:xfrm>
            <a:off x="10279064" y="8206848"/>
            <a:ext cx="2771772" cy="211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975B2E-30C3-4C1F-8E3F-75DBE0B12CE9}"/>
              </a:ext>
            </a:extLst>
          </p:cNvPr>
          <p:cNvSpPr txBox="1"/>
          <p:nvPr/>
        </p:nvSpPr>
        <p:spPr>
          <a:xfrm>
            <a:off x="984250" y="4083585"/>
            <a:ext cx="5105400" cy="10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4365" indent="-285750">
              <a:lnSpc>
                <a:spcPct val="100000"/>
              </a:lnSpc>
              <a:spcBef>
                <a:spcPts val="2375"/>
              </a:spcBef>
              <a:buClr>
                <a:srgbClr val="594234"/>
              </a:buClr>
              <a:buChar char="•"/>
              <a:tabLst>
                <a:tab pos="634365" algn="l"/>
              </a:tabLst>
            </a:pPr>
            <a:r>
              <a:rPr lang="en-US" sz="2000" b="1" dirty="0">
                <a:solidFill>
                  <a:srgbClr val="3B3B3B"/>
                </a:solidFill>
                <a:latin typeface="Calibri"/>
                <a:cs typeface="Calibri"/>
              </a:rPr>
              <a:t>M01AB/AE:</a:t>
            </a:r>
            <a:r>
              <a:rPr lang="en-US" sz="2000" b="1" spc="2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594433"/>
                </a:solidFill>
                <a:latin typeface="Calibri"/>
                <a:cs typeface="Calibri"/>
              </a:rPr>
              <a:t>Pain</a:t>
            </a:r>
            <a:r>
              <a:rPr lang="en-US" sz="2000" b="1" spc="20" dirty="0">
                <a:solidFill>
                  <a:srgbClr val="594433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593F38"/>
                </a:solidFill>
                <a:latin typeface="Calibri"/>
                <a:cs typeface="Calibri"/>
              </a:rPr>
              <a:t>&amp;</a:t>
            </a:r>
            <a:r>
              <a:rPr lang="en-US" sz="2000" b="1" spc="-30" dirty="0">
                <a:solidFill>
                  <a:srgbClr val="593F38"/>
                </a:solidFill>
                <a:latin typeface="Calibri"/>
                <a:cs typeface="Calibri"/>
              </a:rPr>
              <a:t> </a:t>
            </a:r>
            <a:r>
              <a:rPr lang="en-US" sz="2000" b="1" spc="-75" dirty="0">
                <a:latin typeface="Calibri"/>
                <a:cs typeface="Calibri"/>
              </a:rPr>
              <a:t>Inflammation</a:t>
            </a:r>
            <a:r>
              <a:rPr lang="en-US" sz="2000" b="1" spc="29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3F3F3F"/>
                </a:solidFill>
                <a:latin typeface="Calibri"/>
                <a:cs typeface="Calibri"/>
              </a:rPr>
              <a:t>drugs         </a:t>
            </a:r>
          </a:p>
          <a:p>
            <a:pPr marL="348615">
              <a:lnSpc>
                <a:spcPct val="100000"/>
              </a:lnSpc>
              <a:spcBef>
                <a:spcPts val="400"/>
              </a:spcBef>
              <a:buClr>
                <a:srgbClr val="62463A"/>
              </a:buClr>
              <a:tabLst>
                <a:tab pos="634365" algn="l"/>
              </a:tabLst>
            </a:pPr>
            <a:endParaRPr lang="en-US" spc="90" dirty="0">
              <a:solidFill>
                <a:srgbClr val="3B3B3B"/>
              </a:solidFill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84E10-3BE5-4670-95B1-67BD0DE2B427}"/>
              </a:ext>
            </a:extLst>
          </p:cNvPr>
          <p:cNvSpPr txBox="1"/>
          <p:nvPr/>
        </p:nvSpPr>
        <p:spPr>
          <a:xfrm>
            <a:off x="1003300" y="7387687"/>
            <a:ext cx="5867400" cy="10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4365" indent="-285750">
              <a:lnSpc>
                <a:spcPct val="100000"/>
              </a:lnSpc>
              <a:spcBef>
                <a:spcPts val="400"/>
              </a:spcBef>
              <a:buClr>
                <a:srgbClr val="62463A"/>
              </a:buClr>
              <a:buChar char="•"/>
              <a:tabLst>
                <a:tab pos="634365" algn="l"/>
              </a:tabLst>
            </a:pPr>
            <a:r>
              <a:rPr lang="en-US" sz="2000" b="1" spc="90" dirty="0">
                <a:solidFill>
                  <a:srgbClr val="3B3B3B"/>
                </a:solidFill>
                <a:latin typeface="Calibri"/>
                <a:cs typeface="Calibri"/>
              </a:rPr>
              <a:t>N02BE:</a:t>
            </a:r>
            <a:r>
              <a:rPr lang="en-US" sz="2000" b="1" spc="19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2000" b="1" spc="-30" dirty="0">
                <a:solidFill>
                  <a:srgbClr val="3D3D3D"/>
                </a:solidFill>
                <a:latin typeface="Calibri"/>
                <a:cs typeface="Calibri"/>
              </a:rPr>
              <a:t>Common</a:t>
            </a:r>
            <a:r>
              <a:rPr lang="en-US" sz="2000" b="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313131"/>
                </a:solidFill>
                <a:latin typeface="Calibri"/>
                <a:cs typeface="Calibri"/>
              </a:rPr>
              <a:t>Analgesics</a:t>
            </a:r>
            <a:r>
              <a:rPr lang="en-US" sz="2000" b="1" spc="229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363636"/>
                </a:solidFill>
                <a:latin typeface="Calibri"/>
                <a:cs typeface="Calibri"/>
              </a:rPr>
              <a:t>(Paracetamol)</a:t>
            </a:r>
          </a:p>
          <a:p>
            <a:pPr marL="348615">
              <a:lnSpc>
                <a:spcPct val="100000"/>
              </a:lnSpc>
              <a:spcBef>
                <a:spcPts val="400"/>
              </a:spcBef>
              <a:buClr>
                <a:srgbClr val="62463A"/>
              </a:buClr>
              <a:tabLst>
                <a:tab pos="634365" algn="l"/>
              </a:tabLst>
            </a:pPr>
            <a:endParaRPr lang="en-US" spc="-10" dirty="0">
              <a:solidFill>
                <a:srgbClr val="363636"/>
              </a:solidFill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DDD1D9-99AB-4B37-9D85-529AB3079111}"/>
              </a:ext>
            </a:extLst>
          </p:cNvPr>
          <p:cNvSpPr txBox="1"/>
          <p:nvPr/>
        </p:nvSpPr>
        <p:spPr>
          <a:xfrm>
            <a:off x="8909050" y="4088008"/>
            <a:ext cx="5105400" cy="10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4365" indent="-285750">
              <a:lnSpc>
                <a:spcPct val="100000"/>
              </a:lnSpc>
              <a:spcBef>
                <a:spcPts val="400"/>
              </a:spcBef>
              <a:buClr>
                <a:srgbClr val="50342A"/>
              </a:buClr>
              <a:buChar char="•"/>
              <a:tabLst>
                <a:tab pos="634365" algn="l"/>
              </a:tabLst>
            </a:pPr>
            <a:r>
              <a:rPr lang="en-US" sz="2000" b="1" dirty="0">
                <a:solidFill>
                  <a:srgbClr val="3B3B3B"/>
                </a:solidFill>
                <a:latin typeface="Calibri"/>
                <a:cs typeface="Calibri"/>
              </a:rPr>
              <a:t>R03/R06:</a:t>
            </a:r>
            <a:r>
              <a:rPr lang="en-US" sz="2000" b="1" spc="6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4F4F4F"/>
                </a:solidFill>
                <a:latin typeface="Calibri"/>
                <a:cs typeface="Calibri"/>
              </a:rPr>
              <a:t>Allergy</a:t>
            </a:r>
            <a:r>
              <a:rPr lang="en-US" sz="2000" b="1" spc="9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lang="en-US" sz="2000" b="1" spc="-75" dirty="0">
                <a:solidFill>
                  <a:srgbClr val="644D41"/>
                </a:solidFill>
                <a:latin typeface="Calibri"/>
                <a:cs typeface="Calibri"/>
              </a:rPr>
              <a:t>&amp;</a:t>
            </a:r>
            <a:r>
              <a:rPr lang="en-US" sz="2000" b="1" spc="-175" dirty="0">
                <a:solidFill>
                  <a:srgbClr val="644D41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2A2A2A"/>
                </a:solidFill>
                <a:latin typeface="Calibri"/>
                <a:cs typeface="Calibri"/>
              </a:rPr>
              <a:t>Asthma</a:t>
            </a:r>
            <a:r>
              <a:rPr lang="en-US" sz="2000" b="1" spc="-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2B2B2B"/>
                </a:solidFill>
                <a:latin typeface="Calibri"/>
                <a:cs typeface="Calibri"/>
              </a:rPr>
              <a:t>medications</a:t>
            </a:r>
          </a:p>
          <a:p>
            <a:pPr marL="348615">
              <a:lnSpc>
                <a:spcPct val="100000"/>
              </a:lnSpc>
              <a:spcBef>
                <a:spcPts val="400"/>
              </a:spcBef>
              <a:buClr>
                <a:srgbClr val="50342A"/>
              </a:buClr>
              <a:tabLst>
                <a:tab pos="634365" algn="l"/>
              </a:tabLst>
            </a:pPr>
            <a:endParaRPr lang="en-US" spc="-10" dirty="0">
              <a:solidFill>
                <a:srgbClr val="2B2B2B"/>
              </a:solidFill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5E52C-36F8-4199-B765-5F00D5F30248}"/>
              </a:ext>
            </a:extLst>
          </p:cNvPr>
          <p:cNvSpPr txBox="1"/>
          <p:nvPr/>
        </p:nvSpPr>
        <p:spPr>
          <a:xfrm>
            <a:off x="8909050" y="7041628"/>
            <a:ext cx="4756150" cy="10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400"/>
              </a:spcBef>
              <a:buClr>
                <a:srgbClr val="50342A"/>
              </a:buClr>
              <a:tabLst>
                <a:tab pos="634365" algn="l"/>
              </a:tabLst>
            </a:pPr>
            <a:endParaRPr lang="en-US" spc="-10" dirty="0">
              <a:solidFill>
                <a:srgbClr val="2B2B2B"/>
              </a:solidFill>
              <a:latin typeface="Calibri"/>
              <a:cs typeface="Calibri"/>
            </a:endParaRPr>
          </a:p>
          <a:p>
            <a:pPr marL="634365" indent="-285750">
              <a:lnSpc>
                <a:spcPct val="100000"/>
              </a:lnSpc>
              <a:spcBef>
                <a:spcPts val="400"/>
              </a:spcBef>
              <a:buClr>
                <a:srgbClr val="593B34"/>
              </a:buClr>
              <a:buChar char="•"/>
              <a:tabLst>
                <a:tab pos="634365" algn="l"/>
              </a:tabLst>
            </a:pPr>
            <a:r>
              <a:rPr lang="en-US" sz="2000" b="1" dirty="0">
                <a:solidFill>
                  <a:srgbClr val="414141"/>
                </a:solidFill>
                <a:latin typeface="Calibri"/>
                <a:cs typeface="Calibri"/>
              </a:rPr>
              <a:t>N05B/C:</a:t>
            </a:r>
            <a:r>
              <a:rPr lang="en-US" sz="2000" b="1" spc="4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lang="en-US" sz="2000" b="1" spc="-20" dirty="0">
                <a:solidFill>
                  <a:srgbClr val="3B3B3B"/>
                </a:solidFill>
                <a:latin typeface="Calibri"/>
                <a:cs typeface="Calibri"/>
              </a:rPr>
              <a:t>Anxiety</a:t>
            </a:r>
            <a:r>
              <a:rPr lang="en-US" sz="2000" b="1" spc="1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313131"/>
                </a:solidFill>
                <a:latin typeface="Calibri"/>
                <a:cs typeface="Calibri"/>
              </a:rPr>
              <a:t>&amp;</a:t>
            </a:r>
            <a:r>
              <a:rPr lang="en-US" sz="2000" b="1" spc="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313131"/>
                </a:solidFill>
                <a:latin typeface="Calibri"/>
                <a:cs typeface="Calibri"/>
              </a:rPr>
              <a:t>Sleep</a:t>
            </a:r>
            <a:r>
              <a:rPr lang="en-US" sz="2000" b="1" spc="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lang="en-US" sz="2000" b="1" spc="-10" dirty="0">
                <a:solidFill>
                  <a:srgbClr val="2D2D2D"/>
                </a:solidFill>
                <a:latin typeface="Calibri"/>
                <a:cs typeface="Calibri"/>
              </a:rPr>
              <a:t>medicines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203" y="770652"/>
            <a:ext cx="8623935" cy="10267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81025" algn="l"/>
              </a:tabLst>
            </a:pPr>
            <a:r>
              <a:rPr sz="9825" spc="-75" baseline="-8905" dirty="0">
                <a:solidFill>
                  <a:srgbClr val="775646"/>
                </a:solidFill>
                <a:latin typeface="Calibri"/>
                <a:cs typeface="Calibri"/>
              </a:rPr>
              <a:t>I</a:t>
            </a:r>
            <a:r>
              <a:rPr sz="9825" baseline="-8905" dirty="0">
                <a:solidFill>
                  <a:srgbClr val="775646"/>
                </a:solidFill>
                <a:latin typeface="Calibri"/>
                <a:cs typeface="Calibri"/>
              </a:rPr>
              <a:t>	</a:t>
            </a:r>
            <a:r>
              <a:rPr sz="655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6550" spc="-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6550" dirty="0">
                <a:solidFill>
                  <a:srgbClr val="282828"/>
                </a:solidFill>
                <a:latin typeface="Calibri"/>
                <a:cs typeface="Calibri"/>
              </a:rPr>
              <a:t>Hybrid</a:t>
            </a:r>
            <a:r>
              <a:rPr sz="6550" spc="-8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6550" spc="130" dirty="0">
                <a:solidFill>
                  <a:srgbClr val="2A2A2A"/>
                </a:solidFill>
                <a:latin typeface="Calibri"/>
                <a:cs typeface="Calibri"/>
              </a:rPr>
              <a:t>AI</a:t>
            </a:r>
            <a:r>
              <a:rPr sz="6550" spc="-229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6550" spc="-10" dirty="0">
                <a:solidFill>
                  <a:srgbClr val="282828"/>
                </a:solidFill>
                <a:latin typeface="Calibri"/>
                <a:cs typeface="Calibri"/>
              </a:rPr>
              <a:t>Approach</a:t>
            </a:r>
            <a:endParaRPr sz="6550">
              <a:latin typeface="Calibri"/>
              <a:cs typeface="Calibri"/>
            </a:endParaRPr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E3F18DA5-B2AF-4B41-9890-84797FB56BF5}"/>
              </a:ext>
            </a:extLst>
          </p:cNvPr>
          <p:cNvSpPr/>
          <p:nvPr/>
        </p:nvSpPr>
        <p:spPr>
          <a:xfrm>
            <a:off x="679450" y="4664075"/>
            <a:ext cx="5634000" cy="2971800"/>
          </a:xfrm>
          <a:prstGeom prst="flowChartPreparation">
            <a:avLst/>
          </a:prstGeom>
          <a:solidFill>
            <a:srgbClr val="5D394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289050" y="4876098"/>
            <a:ext cx="4183379" cy="2158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4600" spc="-25" dirty="0">
                <a:solidFill>
                  <a:schemeClr val="bg1"/>
                </a:solidFill>
                <a:latin typeface="Courier New"/>
                <a:cs typeface="Courier New"/>
              </a:rPr>
              <a:t>Data Prep</a:t>
            </a:r>
            <a:endParaRPr sz="4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225" marR="5080" indent="4445" algn="ctr">
              <a:lnSpc>
                <a:spcPct val="113599"/>
              </a:lnSpc>
              <a:spcBef>
                <a:spcPts val="1365"/>
              </a:spcBef>
            </a:pP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Cleaning</a:t>
            </a:r>
            <a:r>
              <a:rPr sz="2450" spc="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30" dirty="0">
                <a:solidFill>
                  <a:schemeClr val="bg1"/>
                </a:solidFill>
                <a:latin typeface="Arial MT"/>
                <a:cs typeface="Arial MT"/>
              </a:rPr>
              <a:t>600,000+</a:t>
            </a:r>
            <a:r>
              <a:rPr sz="2450" spc="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chemeClr val="bg1"/>
                </a:solidFill>
                <a:latin typeface="Arial MT"/>
                <a:cs typeface="Arial MT"/>
              </a:rPr>
              <a:t>records</a:t>
            </a:r>
            <a:r>
              <a:rPr sz="2450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and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extracting</a:t>
            </a:r>
            <a:r>
              <a:rPr sz="2450" spc="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65" dirty="0">
                <a:solidFill>
                  <a:schemeClr val="bg1"/>
                </a:solidFill>
                <a:latin typeface="Arial MT"/>
                <a:cs typeface="Arial MT"/>
              </a:rPr>
              <a:t>Year/Month</a:t>
            </a:r>
            <a:r>
              <a:rPr sz="24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10" dirty="0">
                <a:solidFill>
                  <a:schemeClr val="bg1"/>
                </a:solidFill>
                <a:latin typeface="Arial MT"/>
                <a:cs typeface="Arial MT"/>
              </a:rPr>
              <a:t>features</a:t>
            </a:r>
            <a:r>
              <a:rPr sz="2450" spc="-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to </a:t>
            </a:r>
            <a:r>
              <a:rPr sz="2450" spc="-114" dirty="0">
                <a:solidFill>
                  <a:schemeClr val="bg1"/>
                </a:solidFill>
                <a:latin typeface="Arial MT"/>
                <a:cs typeface="Arial MT"/>
              </a:rPr>
              <a:t>capture</a:t>
            </a:r>
            <a:r>
              <a:rPr sz="2450" spc="-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40" dirty="0">
                <a:solidFill>
                  <a:schemeClr val="bg1"/>
                </a:solidFill>
                <a:latin typeface="Arial MT"/>
                <a:cs typeface="Arial MT"/>
              </a:rPr>
              <a:t>seasonal</a:t>
            </a:r>
            <a:r>
              <a:rPr sz="2450" spc="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chemeClr val="bg1"/>
                </a:solidFill>
                <a:latin typeface="Arial MT"/>
                <a:cs typeface="Arial MT"/>
              </a:rPr>
              <a:t>trends.</a:t>
            </a:r>
            <a:endParaRPr sz="24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7" name="Flowchart: Preparation 6">
            <a:extLst>
              <a:ext uri="{FF2B5EF4-FFF2-40B4-BE49-F238E27FC236}">
                <a16:creationId xmlns:a16="http://schemas.microsoft.com/office/drawing/2014/main" id="{4AC0D44C-43A3-48A3-AA58-4CB1F5A178AF}"/>
              </a:ext>
            </a:extLst>
          </p:cNvPr>
          <p:cNvSpPr/>
          <p:nvPr/>
        </p:nvSpPr>
        <p:spPr>
          <a:xfrm>
            <a:off x="6837558" y="4664075"/>
            <a:ext cx="5738384" cy="2971800"/>
          </a:xfrm>
          <a:prstGeom prst="flowChartPreparation">
            <a:avLst/>
          </a:prstGeom>
          <a:solidFill>
            <a:srgbClr val="5D394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Preparation 7">
            <a:extLst>
              <a:ext uri="{FF2B5EF4-FFF2-40B4-BE49-F238E27FC236}">
                <a16:creationId xmlns:a16="http://schemas.microsoft.com/office/drawing/2014/main" id="{8C3D7E80-8C6A-4D90-A293-1D975732B508}"/>
              </a:ext>
            </a:extLst>
          </p:cNvPr>
          <p:cNvSpPr/>
          <p:nvPr/>
        </p:nvSpPr>
        <p:spPr>
          <a:xfrm>
            <a:off x="13100050" y="4664075"/>
            <a:ext cx="5601506" cy="2971800"/>
          </a:xfrm>
          <a:prstGeom prst="flowChartPreparation">
            <a:avLst/>
          </a:prstGeom>
          <a:solidFill>
            <a:srgbClr val="5D394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7624707" y="4668698"/>
            <a:ext cx="4292600" cy="2573020"/>
          </a:xfrm>
          <a:prstGeom prst="rect">
            <a:avLst/>
          </a:prstGeom>
        </p:spPr>
        <p:txBody>
          <a:bodyPr vert="horz" wrap="square" lIns="0" tIns="3911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080"/>
              </a:spcBef>
            </a:pPr>
            <a:r>
              <a:rPr sz="4750" dirty="0">
                <a:solidFill>
                  <a:schemeClr val="bg1"/>
                </a:solidFill>
                <a:latin typeface="Calibri"/>
                <a:cs typeface="Calibri"/>
              </a:rPr>
              <a:t>Random</a:t>
            </a:r>
            <a:r>
              <a:rPr sz="4750" spc="-2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4750" spc="-10" dirty="0">
                <a:solidFill>
                  <a:schemeClr val="bg1"/>
                </a:solidFill>
                <a:latin typeface="Calibri"/>
                <a:cs typeface="Calibri"/>
              </a:rPr>
              <a:t>Forest</a:t>
            </a:r>
            <a:endParaRPr sz="475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2860" marR="5080" indent="2540" algn="ctr">
              <a:lnSpc>
                <a:spcPct val="109100"/>
              </a:lnSpc>
              <a:spcBef>
                <a:spcPts val="1355"/>
              </a:spcBef>
            </a:pPr>
            <a:r>
              <a:rPr sz="2550" dirty="0">
                <a:solidFill>
                  <a:schemeClr val="bg1"/>
                </a:solidFill>
                <a:latin typeface="Calibri"/>
                <a:cs typeface="Calibri"/>
              </a:rPr>
              <a:t>An</a:t>
            </a:r>
            <a:r>
              <a:rPr sz="2550" spc="-1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60" dirty="0">
                <a:solidFill>
                  <a:schemeClr val="bg1"/>
                </a:solidFill>
                <a:latin typeface="Calibri"/>
                <a:cs typeface="Calibri"/>
              </a:rPr>
              <a:t>ensemble</a:t>
            </a:r>
            <a:r>
              <a:rPr sz="255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00" dirty="0">
                <a:solidFill>
                  <a:schemeClr val="bg1"/>
                </a:solidFill>
                <a:latin typeface="Calibri"/>
                <a:cs typeface="Calibri"/>
              </a:rPr>
              <a:t>model</a:t>
            </a:r>
            <a:r>
              <a:rPr sz="255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35" dirty="0">
                <a:solidFill>
                  <a:schemeClr val="bg1"/>
                </a:solidFill>
                <a:latin typeface="Calibri"/>
                <a:cs typeface="Calibri"/>
              </a:rPr>
              <a:t>that</a:t>
            </a:r>
            <a:r>
              <a:rPr sz="255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chemeClr val="bg1"/>
                </a:solidFill>
                <a:latin typeface="Calibri"/>
                <a:cs typeface="Calibri"/>
              </a:rPr>
              <a:t>handles </a:t>
            </a:r>
            <a:r>
              <a:rPr sz="2550" spc="-75" dirty="0">
                <a:solidFill>
                  <a:schemeClr val="bg1"/>
                </a:solidFill>
                <a:latin typeface="Calibri"/>
                <a:cs typeface="Calibri"/>
              </a:rPr>
              <a:t>complex</a:t>
            </a:r>
            <a:r>
              <a:rPr sz="2550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20" dirty="0">
                <a:solidFill>
                  <a:schemeClr val="bg1"/>
                </a:solidFill>
                <a:latin typeface="Calibri"/>
                <a:cs typeface="Calibri"/>
              </a:rPr>
              <a:t>non-</a:t>
            </a:r>
            <a:r>
              <a:rPr sz="2550" spc="-60" dirty="0">
                <a:solidFill>
                  <a:schemeClr val="bg1"/>
                </a:solidFill>
                <a:latin typeface="Calibri"/>
                <a:cs typeface="Calibri"/>
              </a:rPr>
              <a:t>linear</a:t>
            </a:r>
            <a:r>
              <a:rPr sz="255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00" dirty="0">
                <a:solidFill>
                  <a:schemeClr val="bg1"/>
                </a:solidFill>
                <a:latin typeface="Calibri"/>
                <a:cs typeface="Calibri"/>
              </a:rPr>
              <a:t>patterns</a:t>
            </a:r>
            <a:r>
              <a:rPr sz="255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chemeClr val="bg1"/>
                </a:solidFill>
                <a:latin typeface="Calibri"/>
                <a:cs typeface="Calibri"/>
              </a:rPr>
              <a:t>much </a:t>
            </a:r>
            <a:r>
              <a:rPr sz="2550" spc="-135" dirty="0">
                <a:solidFill>
                  <a:schemeClr val="bg1"/>
                </a:solidFill>
                <a:latin typeface="Calibri"/>
                <a:cs typeface="Calibri"/>
              </a:rPr>
              <a:t>better</a:t>
            </a:r>
            <a:r>
              <a:rPr sz="2550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85" dirty="0">
                <a:solidFill>
                  <a:schemeClr val="bg1"/>
                </a:solidFill>
                <a:latin typeface="Calibri"/>
                <a:cs typeface="Calibri"/>
              </a:rPr>
              <a:t>than</a:t>
            </a:r>
            <a:r>
              <a:rPr sz="2550" spc="-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solidFill>
                  <a:schemeClr val="bg1"/>
                </a:solidFill>
                <a:latin typeface="Calibri"/>
                <a:cs typeface="Calibri"/>
              </a:rPr>
              <a:t>simple</a:t>
            </a:r>
            <a:r>
              <a:rPr sz="255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chemeClr val="bg1"/>
                </a:solidFill>
                <a:latin typeface="Calibri"/>
                <a:cs typeface="Calibri"/>
              </a:rPr>
              <a:t>models.</a:t>
            </a:r>
            <a:endParaRPr sz="25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1493" y="5061585"/>
            <a:ext cx="4199255" cy="21767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4600" dirty="0">
                <a:solidFill>
                  <a:schemeClr val="bg1"/>
                </a:solidFill>
                <a:latin typeface="Calibri"/>
                <a:cs typeface="Calibri"/>
              </a:rPr>
              <a:t>Hybrid</a:t>
            </a:r>
            <a:r>
              <a:rPr lang="en-US" sz="4600" spc="1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4600" spc="-10" dirty="0">
                <a:solidFill>
                  <a:schemeClr val="bg1"/>
                </a:solidFill>
                <a:latin typeface="Calibri"/>
                <a:cs typeface="Calibri"/>
              </a:rPr>
              <a:t>Output</a:t>
            </a:r>
            <a:endParaRPr sz="46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7305" marR="5080" indent="2540" algn="ctr">
              <a:lnSpc>
                <a:spcPct val="113599"/>
              </a:lnSpc>
              <a:spcBef>
                <a:spcPts val="1365"/>
              </a:spcBef>
            </a:pPr>
            <a:r>
              <a:rPr sz="2450" spc="-125" dirty="0">
                <a:solidFill>
                  <a:schemeClr val="bg1"/>
                </a:solidFill>
                <a:latin typeface="Arial MT"/>
                <a:cs typeface="Arial MT"/>
              </a:rPr>
              <a:t>Predicting</a:t>
            </a:r>
            <a:r>
              <a:rPr sz="2450" spc="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chemeClr val="bg1"/>
                </a:solidFill>
                <a:latin typeface="Arial MT"/>
                <a:cs typeface="Arial MT"/>
              </a:rPr>
              <a:t>both</a:t>
            </a:r>
            <a:r>
              <a:rPr sz="2450" spc="-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85" dirty="0">
                <a:solidFill>
                  <a:schemeClr val="bg1"/>
                </a:solidFill>
                <a:latin typeface="Arial MT"/>
                <a:cs typeface="Arial MT"/>
              </a:rPr>
              <a:t>"How</a:t>
            </a:r>
            <a:r>
              <a:rPr sz="2450" spc="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70" dirty="0">
                <a:solidFill>
                  <a:schemeClr val="bg1"/>
                </a:solidFill>
                <a:latin typeface="Arial MT"/>
                <a:cs typeface="Arial MT"/>
              </a:rPr>
              <a:t>many</a:t>
            </a:r>
            <a:r>
              <a:rPr sz="245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chemeClr val="bg1"/>
                </a:solidFill>
                <a:latin typeface="Arial MT"/>
                <a:cs typeface="Arial MT"/>
              </a:rPr>
              <a:t>units" </a:t>
            </a:r>
            <a:r>
              <a:rPr sz="2450" spc="-125" dirty="0">
                <a:solidFill>
                  <a:schemeClr val="bg1"/>
                </a:solidFill>
                <a:latin typeface="Arial MT"/>
                <a:cs typeface="Arial MT"/>
              </a:rPr>
              <a:t>(Regression)</a:t>
            </a:r>
            <a:r>
              <a:rPr sz="245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6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45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20" dirty="0">
                <a:solidFill>
                  <a:schemeClr val="bg1"/>
                </a:solidFill>
                <a:latin typeface="Arial MT"/>
                <a:cs typeface="Arial MT"/>
              </a:rPr>
              <a:t>"Stock</a:t>
            </a:r>
            <a:r>
              <a:rPr sz="245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chemeClr val="bg1"/>
                </a:solidFill>
                <a:latin typeface="Arial MT"/>
                <a:cs typeface="Arial MT"/>
              </a:rPr>
              <a:t>Status" </a:t>
            </a:r>
            <a:r>
              <a:rPr sz="2450" spc="-45" dirty="0">
                <a:solidFill>
                  <a:schemeClr val="bg1"/>
                </a:solidFill>
                <a:latin typeface="Arial MT"/>
                <a:cs typeface="Arial MT"/>
              </a:rPr>
              <a:t>(Classification).</a:t>
            </a:r>
            <a:endParaRPr sz="24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68960" algn="l"/>
              </a:tabLst>
            </a:pPr>
            <a:r>
              <a:rPr sz="9225" spc="-75" baseline="-11743" dirty="0">
                <a:solidFill>
                  <a:srgbClr val="775646"/>
                </a:solidFill>
              </a:rPr>
              <a:t>I</a:t>
            </a:r>
            <a:r>
              <a:rPr sz="9225" baseline="-11743" dirty="0">
                <a:solidFill>
                  <a:srgbClr val="775646"/>
                </a:solidFill>
              </a:rPr>
              <a:t>	</a:t>
            </a:r>
            <a:r>
              <a:rPr sz="6150" spc="-120" dirty="0"/>
              <a:t>Performance</a:t>
            </a:r>
            <a:r>
              <a:rPr sz="6150" spc="-225" dirty="0"/>
              <a:t> </a:t>
            </a:r>
            <a:r>
              <a:rPr sz="6150" spc="-80" dirty="0"/>
              <a:t>Comparison</a:t>
            </a:r>
            <a:endParaRPr sz="6150"/>
          </a:p>
        </p:txBody>
      </p:sp>
      <p:sp>
        <p:nvSpPr>
          <p:cNvPr id="5" name="object 5"/>
          <p:cNvSpPr txBox="1"/>
          <p:nvPr/>
        </p:nvSpPr>
        <p:spPr>
          <a:xfrm>
            <a:off x="925012" y="4743044"/>
            <a:ext cx="371683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200" spc="114" dirty="0" err="1">
                <a:solidFill>
                  <a:srgbClr val="444444"/>
                </a:solidFill>
                <a:latin typeface="Arial MT"/>
                <a:cs typeface="Arial MT"/>
              </a:rPr>
              <a:t>Mutiple</a:t>
            </a:r>
            <a:r>
              <a:rPr lang="en-US" sz="2200" spc="114" dirty="0">
                <a:solidFill>
                  <a:srgbClr val="444444"/>
                </a:solidFill>
                <a:latin typeface="Arial MT"/>
                <a:cs typeface="Arial MT"/>
              </a:rPr>
              <a:t> Linear </a:t>
            </a:r>
            <a:r>
              <a:rPr sz="2200" spc="70" dirty="0">
                <a:solidFill>
                  <a:srgbClr val="3B3B3B"/>
                </a:solidFill>
                <a:latin typeface="Arial MT"/>
                <a:cs typeface="Arial MT"/>
              </a:rPr>
              <a:t>Regression</a:t>
            </a:r>
            <a:r>
              <a:rPr sz="2200" spc="19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200" spc="65" dirty="0">
                <a:solidFill>
                  <a:srgbClr val="3B3B3B"/>
                </a:solidFill>
                <a:latin typeface="Arial MT"/>
                <a:cs typeface="Arial MT"/>
              </a:rPr>
              <a:t>Score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235" y="6057007"/>
            <a:ext cx="296418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3F3F3F"/>
                </a:solidFill>
                <a:latin typeface="Arial MT"/>
                <a:cs typeface="Arial MT"/>
              </a:rPr>
              <a:t>Random</a:t>
            </a:r>
            <a:r>
              <a:rPr sz="2300" spc="2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44444"/>
                </a:solidFill>
                <a:latin typeface="Arial MT"/>
                <a:cs typeface="Arial MT"/>
              </a:rPr>
              <a:t>Forest</a:t>
            </a:r>
            <a:r>
              <a:rPr sz="2300" spc="25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424242"/>
                </a:solidFill>
                <a:latin typeface="Arial MT"/>
                <a:cs typeface="Arial MT"/>
              </a:rPr>
              <a:t>Score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7850" y="8550275"/>
            <a:ext cx="1224724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i="1" spc="-50" dirty="0">
                <a:solidFill>
                  <a:srgbClr val="383838"/>
                </a:solidFill>
                <a:latin typeface="Arial"/>
                <a:cs typeface="Arial"/>
              </a:rPr>
              <a:t>Random</a:t>
            </a:r>
            <a:r>
              <a:rPr sz="2300" i="1" spc="-11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i="1" spc="-20" dirty="0">
                <a:solidFill>
                  <a:srgbClr val="383838"/>
                </a:solidFill>
                <a:latin typeface="Arial"/>
                <a:cs typeface="Arial"/>
              </a:rPr>
              <a:t>Forest</a:t>
            </a:r>
            <a:r>
              <a:rPr sz="2300" i="1" spc="-14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2300" i="1" spc="-35" dirty="0">
                <a:solidFill>
                  <a:srgbClr val="363636"/>
                </a:solidFill>
                <a:latin typeface="Arial"/>
                <a:cs typeface="Arial"/>
              </a:rPr>
              <a:t>outperforms</a:t>
            </a:r>
            <a:r>
              <a:rPr sz="2300" i="1" spc="1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2300" i="1" spc="-35" dirty="0">
                <a:solidFill>
                  <a:srgbClr val="363636"/>
                </a:solidFill>
                <a:latin typeface="Arial"/>
                <a:cs typeface="Arial"/>
              </a:rPr>
              <a:t>traditional</a:t>
            </a:r>
            <a:r>
              <a:rPr sz="2300" i="1" spc="-8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2300" i="1" spc="-25" dirty="0">
                <a:solidFill>
                  <a:srgbClr val="363636"/>
                </a:solidFill>
                <a:latin typeface="Arial"/>
                <a:cs typeface="Arial"/>
              </a:rPr>
              <a:t>methods</a:t>
            </a:r>
            <a:r>
              <a:rPr sz="2300" i="1" spc="-8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62422D"/>
                </a:solidFill>
                <a:latin typeface="Arial"/>
                <a:cs typeface="Arial"/>
              </a:rPr>
              <a:t>by</a:t>
            </a:r>
            <a:r>
              <a:rPr sz="2300" i="1" spc="-160" dirty="0">
                <a:solidFill>
                  <a:srgbClr val="62422D"/>
                </a:solidFill>
                <a:latin typeface="Arial"/>
                <a:cs typeface="Arial"/>
              </a:rPr>
              <a:t> </a:t>
            </a:r>
            <a:r>
              <a:rPr sz="2300" i="1" spc="-30" dirty="0">
                <a:solidFill>
                  <a:srgbClr val="3B3B3B"/>
                </a:solidFill>
                <a:latin typeface="Arial"/>
                <a:cs typeface="Arial"/>
              </a:rPr>
              <a:t>capturing</a:t>
            </a:r>
            <a:r>
              <a:rPr sz="2300" i="1" spc="-85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424242"/>
                </a:solidFill>
                <a:latin typeface="Arial MT"/>
                <a:cs typeface="Arial MT"/>
              </a:rPr>
              <a:t>seasona/</a:t>
            </a:r>
            <a:r>
              <a:rPr sz="2300" spc="-114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300" i="1" spc="-20" dirty="0">
                <a:solidFill>
                  <a:srgbClr val="414141"/>
                </a:solidFill>
                <a:latin typeface="Arial"/>
                <a:cs typeface="Arial"/>
              </a:rPr>
              <a:t>spikes</a:t>
            </a:r>
            <a:r>
              <a:rPr sz="2300" i="1" spc="-6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14141"/>
                </a:solidFill>
                <a:latin typeface="Arial"/>
                <a:cs typeface="Arial"/>
              </a:rPr>
              <a:t>and</a:t>
            </a:r>
            <a:r>
              <a:rPr sz="2300" i="1" spc="-150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2300" i="1" spc="-20" dirty="0">
                <a:solidFill>
                  <a:srgbClr val="333333"/>
                </a:solidFill>
                <a:latin typeface="Arial"/>
                <a:cs typeface="Arial"/>
              </a:rPr>
              <a:t>dips</a:t>
            </a:r>
            <a:r>
              <a:rPr sz="2300" i="1" spc="-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300" i="1" spc="-20" dirty="0">
                <a:solidFill>
                  <a:srgbClr val="363636"/>
                </a:solidFill>
                <a:latin typeface="Arial"/>
                <a:cs typeface="Arial"/>
              </a:rPr>
              <a:t>effectively.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34EBEB-4C25-4ED6-AC29-7872A1B57548}"/>
              </a:ext>
            </a:extLst>
          </p:cNvPr>
          <p:cNvSpPr/>
          <p:nvPr/>
        </p:nvSpPr>
        <p:spPr>
          <a:xfrm>
            <a:off x="5635228" y="4646378"/>
            <a:ext cx="4112022" cy="7853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8AF4C6-8121-4A15-9276-DA8CAFB945BD}"/>
              </a:ext>
            </a:extLst>
          </p:cNvPr>
          <p:cNvSpPr/>
          <p:nvPr/>
        </p:nvSpPr>
        <p:spPr>
          <a:xfrm>
            <a:off x="5632450" y="4646378"/>
            <a:ext cx="4112022" cy="7853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5AA49E-7459-49E2-BAC9-76E617DC13EF}"/>
              </a:ext>
            </a:extLst>
          </p:cNvPr>
          <p:cNvSpPr/>
          <p:nvPr/>
        </p:nvSpPr>
        <p:spPr>
          <a:xfrm>
            <a:off x="5632449" y="5796404"/>
            <a:ext cx="6705601" cy="7853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5A4162-5773-46FA-AA88-76F7BA095D32}"/>
              </a:ext>
            </a:extLst>
          </p:cNvPr>
          <p:cNvSpPr txBox="1"/>
          <p:nvPr/>
        </p:nvSpPr>
        <p:spPr>
          <a:xfrm>
            <a:off x="5937250" y="4816475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R2: 0.0549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F6631-5215-4AD7-B7F7-B996FDFCEC9A}"/>
              </a:ext>
            </a:extLst>
          </p:cNvPr>
          <p:cNvSpPr txBox="1"/>
          <p:nvPr/>
        </p:nvSpPr>
        <p:spPr>
          <a:xfrm>
            <a:off x="5930900" y="598319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R2: 0.8820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0727A2-4A29-4E67-80D7-424F2D0AF42A}"/>
              </a:ext>
            </a:extLst>
          </p:cNvPr>
          <p:cNvSpPr txBox="1"/>
          <p:nvPr/>
        </p:nvSpPr>
        <p:spPr>
          <a:xfrm>
            <a:off x="922235" y="7254875"/>
            <a:ext cx="417681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Arial MT"/>
              </a:rPr>
              <a:t>Polynomial Regression 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6FBCEE-111C-4C6F-A7F9-344DA769634A}"/>
              </a:ext>
            </a:extLst>
          </p:cNvPr>
          <p:cNvSpPr/>
          <p:nvPr/>
        </p:nvSpPr>
        <p:spPr>
          <a:xfrm>
            <a:off x="5632450" y="6943500"/>
            <a:ext cx="4112022" cy="78531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0054B-6830-4F89-A629-4F67A54CB057}"/>
              </a:ext>
            </a:extLst>
          </p:cNvPr>
          <p:cNvSpPr txBox="1"/>
          <p:nvPr/>
        </p:nvSpPr>
        <p:spPr>
          <a:xfrm>
            <a:off x="5924550" y="7093924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R2: 0.1740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8906" y="4492009"/>
            <a:ext cx="10146287" cy="8952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1036" y="780469"/>
            <a:ext cx="7253605" cy="968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74675" algn="l"/>
              </a:tabLst>
            </a:pPr>
            <a:r>
              <a:rPr sz="9225" spc="-75" baseline="-12195" dirty="0">
                <a:solidFill>
                  <a:srgbClr val="775646"/>
                </a:solidFill>
              </a:rPr>
              <a:t>I</a:t>
            </a:r>
            <a:r>
              <a:rPr sz="9225" baseline="-12195" dirty="0">
                <a:solidFill>
                  <a:srgbClr val="775646"/>
                </a:solidFill>
              </a:rPr>
              <a:t>	</a:t>
            </a:r>
            <a:r>
              <a:rPr sz="6150" dirty="0"/>
              <a:t>Classification</a:t>
            </a:r>
            <a:r>
              <a:rPr sz="6150" spc="-245" dirty="0"/>
              <a:t> </a:t>
            </a:r>
            <a:r>
              <a:rPr sz="6150" spc="-10" dirty="0">
                <a:solidFill>
                  <a:srgbClr val="282828"/>
                </a:solidFill>
              </a:rPr>
              <a:t>Logic</a:t>
            </a:r>
            <a:endParaRPr sz="6150"/>
          </a:p>
        </p:txBody>
      </p:sp>
      <p:sp>
        <p:nvSpPr>
          <p:cNvPr id="4" name="object 4"/>
          <p:cNvSpPr txBox="1"/>
          <p:nvPr/>
        </p:nvSpPr>
        <p:spPr>
          <a:xfrm>
            <a:off x="5204986" y="5622599"/>
            <a:ext cx="231013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3F3F3F"/>
                </a:solidFill>
                <a:latin typeface="Arial MT"/>
                <a:cs typeface="Arial MT"/>
              </a:rPr>
              <a:t>Less</a:t>
            </a:r>
            <a:r>
              <a:rPr sz="2200" spc="2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343434"/>
                </a:solidFill>
                <a:latin typeface="Arial MT"/>
                <a:cs typeface="Arial MT"/>
              </a:rPr>
              <a:t>than</a:t>
            </a:r>
            <a:r>
              <a:rPr sz="22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94949"/>
                </a:solidFill>
                <a:latin typeface="Arial MT"/>
                <a:cs typeface="Arial MT"/>
              </a:rPr>
              <a:t>50</a:t>
            </a:r>
            <a:r>
              <a:rPr sz="2200" spc="-4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Arial MT"/>
                <a:cs typeface="Arial MT"/>
              </a:rPr>
              <a:t>units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5631" y="5622599"/>
            <a:ext cx="54102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25" dirty="0">
                <a:solidFill>
                  <a:srgbClr val="3B3B3B"/>
                </a:solidFill>
                <a:latin typeface="Arial MT"/>
                <a:cs typeface="Arial MT"/>
              </a:rPr>
              <a:t>Low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5964" y="6533567"/>
            <a:ext cx="1869439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444444"/>
                </a:solidFill>
                <a:latin typeface="Arial MT"/>
                <a:cs typeface="Arial MT"/>
              </a:rPr>
              <a:t>50</a:t>
            </a:r>
            <a:r>
              <a:rPr sz="2200" spc="1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24242"/>
                </a:solidFill>
                <a:latin typeface="Arial MT"/>
                <a:cs typeface="Arial MT"/>
              </a:rPr>
              <a:t>to</a:t>
            </a:r>
            <a:r>
              <a:rPr sz="2200" spc="1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3B3B3B"/>
                </a:solidFill>
                <a:latin typeface="Arial MT"/>
                <a:cs typeface="Arial MT"/>
              </a:rPr>
              <a:t>150</a:t>
            </a:r>
            <a:r>
              <a:rPr sz="2200" spc="-3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383838"/>
                </a:solidFill>
                <a:latin typeface="Arial MT"/>
                <a:cs typeface="Arial MT"/>
              </a:rPr>
              <a:t>units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4148" y="6517206"/>
            <a:ext cx="108331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0" dirty="0">
                <a:solidFill>
                  <a:srgbClr val="3F3F3F"/>
                </a:solidFill>
                <a:latin typeface="Arial MT"/>
                <a:cs typeface="Arial MT"/>
              </a:rPr>
              <a:t>Medium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4717" y="7444533"/>
            <a:ext cx="251460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313131"/>
                </a:solidFill>
                <a:latin typeface="Arial MT"/>
                <a:cs typeface="Arial MT"/>
              </a:rPr>
              <a:t>More</a:t>
            </a:r>
            <a:r>
              <a:rPr sz="2200" spc="9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3D3D3D"/>
                </a:solidFill>
                <a:latin typeface="Arial MT"/>
                <a:cs typeface="Arial MT"/>
              </a:rPr>
              <a:t>than</a:t>
            </a:r>
            <a:r>
              <a:rPr sz="2200" spc="-4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24242"/>
                </a:solidFill>
                <a:latin typeface="Arial MT"/>
                <a:cs typeface="Arial MT"/>
              </a:rPr>
              <a:t>150</a:t>
            </a:r>
            <a:r>
              <a:rPr sz="2200" spc="-4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44444"/>
                </a:solidFill>
                <a:latin typeface="Arial MT"/>
                <a:cs typeface="Arial MT"/>
              </a:rPr>
              <a:t>units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3731" y="7444533"/>
            <a:ext cx="65468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75" dirty="0">
                <a:solidFill>
                  <a:srgbClr val="3D3D3D"/>
                </a:solidFill>
                <a:latin typeface="Arial MT"/>
                <a:cs typeface="Arial MT"/>
              </a:rPr>
              <a:t>High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0831" y="5606238"/>
            <a:ext cx="4053204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45" dirty="0">
                <a:solidFill>
                  <a:srgbClr val="3D3D3D"/>
                </a:solidFill>
                <a:latin typeface="Arial MT"/>
                <a:cs typeface="Arial MT"/>
              </a:rPr>
              <a:t>Minimum </a:t>
            </a:r>
            <a:r>
              <a:rPr sz="2300" spc="-30" dirty="0">
                <a:solidFill>
                  <a:srgbClr val="333333"/>
                </a:solidFill>
                <a:latin typeface="Arial MT"/>
                <a:cs typeface="Arial MT"/>
              </a:rPr>
              <a:t>stock</a:t>
            </a:r>
            <a:r>
              <a:rPr sz="2300" spc="-9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543D2B"/>
                </a:solidFill>
                <a:latin typeface="Arial MT"/>
                <a:cs typeface="Arial MT"/>
              </a:rPr>
              <a:t>-</a:t>
            </a:r>
            <a:r>
              <a:rPr sz="2300" spc="-130" dirty="0">
                <a:solidFill>
                  <a:srgbClr val="543D2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No</a:t>
            </a:r>
            <a:r>
              <a:rPr sz="2300" spc="-10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444444"/>
                </a:solidFill>
                <a:latin typeface="Arial MT"/>
                <a:cs typeface="Arial MT"/>
              </a:rPr>
              <a:t>new</a:t>
            </a:r>
            <a:r>
              <a:rPr sz="2300" spc="-10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383838"/>
                </a:solidFill>
                <a:latin typeface="Arial MT"/>
                <a:cs typeface="Arial MT"/>
              </a:rPr>
              <a:t>orders.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80257" y="6517206"/>
            <a:ext cx="356298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40" dirty="0">
                <a:solidFill>
                  <a:srgbClr val="3D3D3D"/>
                </a:solidFill>
                <a:latin typeface="Arial MT"/>
                <a:cs typeface="Arial MT"/>
              </a:rPr>
              <a:t>Normal</a:t>
            </a:r>
            <a:r>
              <a:rPr sz="2300" spc="-6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spc="-35" dirty="0">
                <a:solidFill>
                  <a:srgbClr val="363636"/>
                </a:solidFill>
                <a:latin typeface="Arial MT"/>
                <a:cs typeface="Arial MT"/>
              </a:rPr>
              <a:t>stock</a:t>
            </a:r>
            <a:r>
              <a:rPr sz="2300" spc="-4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604638"/>
                </a:solidFill>
                <a:latin typeface="Arial MT"/>
                <a:cs typeface="Arial MT"/>
              </a:rPr>
              <a:t>-</a:t>
            </a:r>
            <a:r>
              <a:rPr sz="2300" spc="-125" dirty="0">
                <a:solidFill>
                  <a:srgbClr val="604638"/>
                </a:solidFill>
                <a:latin typeface="Arial MT"/>
                <a:cs typeface="Arial MT"/>
              </a:rPr>
              <a:t> </a:t>
            </a:r>
            <a:r>
              <a:rPr sz="2300" spc="-50" dirty="0">
                <a:solidFill>
                  <a:srgbClr val="363636"/>
                </a:solidFill>
                <a:latin typeface="Arial MT"/>
                <a:cs typeface="Arial MT"/>
              </a:rPr>
              <a:t>Routine</a:t>
            </a:r>
            <a:r>
              <a:rPr sz="2300" spc="-4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414141"/>
                </a:solidFill>
                <a:latin typeface="Arial MT"/>
                <a:cs typeface="Arial MT"/>
              </a:rPr>
              <a:t>refill.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79967" y="7428172"/>
            <a:ext cx="439102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25" dirty="0">
                <a:solidFill>
                  <a:srgbClr val="414141"/>
                </a:solidFill>
                <a:latin typeface="Arial MT"/>
                <a:cs typeface="Arial MT"/>
              </a:rPr>
              <a:t>Priority</a:t>
            </a:r>
            <a:r>
              <a:rPr sz="2300" spc="-9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3D3D3D"/>
                </a:solidFill>
                <a:latin typeface="Arial MT"/>
                <a:cs typeface="Arial MT"/>
              </a:rPr>
              <a:t>Stock</a:t>
            </a:r>
            <a:r>
              <a:rPr sz="2300" spc="-10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564631"/>
                </a:solidFill>
                <a:latin typeface="Arial MT"/>
                <a:cs typeface="Arial MT"/>
              </a:rPr>
              <a:t>-</a:t>
            </a:r>
            <a:r>
              <a:rPr sz="2300" spc="-125" dirty="0">
                <a:solidFill>
                  <a:srgbClr val="56463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3A3A3A"/>
                </a:solidFill>
                <a:latin typeface="Arial MT"/>
                <a:cs typeface="Arial MT"/>
              </a:rPr>
              <a:t>Bulk</a:t>
            </a:r>
            <a:r>
              <a:rPr sz="2300" spc="-12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3F3F3F"/>
                </a:solidFill>
                <a:latin typeface="Arial MT"/>
                <a:cs typeface="Arial MT"/>
              </a:rPr>
              <a:t>order</a:t>
            </a:r>
            <a:r>
              <a:rPr sz="2300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300" spc="-45" dirty="0">
                <a:solidFill>
                  <a:srgbClr val="3B3B3B"/>
                </a:solidFill>
                <a:latin typeface="Arial MT"/>
                <a:cs typeface="Arial MT"/>
              </a:rPr>
              <a:t>required!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036" y="788322"/>
            <a:ext cx="6163310" cy="968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70865" algn="l"/>
              </a:tabLst>
            </a:pPr>
            <a:r>
              <a:rPr sz="9225" spc="-75" baseline="-11743" dirty="0">
                <a:solidFill>
                  <a:srgbClr val="775646"/>
                </a:solidFill>
                <a:latin typeface="Arial MT"/>
                <a:cs typeface="Arial MT"/>
              </a:rPr>
              <a:t>I</a:t>
            </a:r>
            <a:r>
              <a:rPr sz="9225" baseline="-11743" dirty="0">
                <a:solidFill>
                  <a:srgbClr val="775646"/>
                </a:solidFill>
                <a:latin typeface="Arial MT"/>
                <a:cs typeface="Arial MT"/>
              </a:rPr>
              <a:t>	</a:t>
            </a:r>
            <a:r>
              <a:rPr sz="6150" spc="-160" dirty="0">
                <a:solidFill>
                  <a:srgbClr val="282828"/>
                </a:solidFill>
                <a:latin typeface="Arial MT"/>
                <a:cs typeface="Arial MT"/>
              </a:rPr>
              <a:t>Model</a:t>
            </a:r>
            <a:r>
              <a:rPr sz="6150" spc="-229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6150" spc="-10" dirty="0">
                <a:solidFill>
                  <a:srgbClr val="262626"/>
                </a:solidFill>
                <a:latin typeface="Arial MT"/>
                <a:cs typeface="Arial MT"/>
              </a:rPr>
              <a:t>Reliability</a:t>
            </a:r>
            <a:endParaRPr sz="61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9326" y="7163128"/>
            <a:ext cx="3637279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75" dirty="0">
                <a:solidFill>
                  <a:srgbClr val="897060"/>
                </a:solidFill>
                <a:latin typeface="Arial MT"/>
                <a:cs typeface="Arial MT"/>
              </a:rPr>
              <a:t>Testing</a:t>
            </a:r>
            <a:r>
              <a:rPr sz="3450" spc="210" dirty="0">
                <a:solidFill>
                  <a:srgbClr val="897060"/>
                </a:solidFill>
                <a:latin typeface="Arial MT"/>
                <a:cs typeface="Arial MT"/>
              </a:rPr>
              <a:t> </a:t>
            </a:r>
            <a:r>
              <a:rPr sz="3450" spc="110" dirty="0">
                <a:solidFill>
                  <a:srgbClr val="8C6E62"/>
                </a:solidFill>
                <a:latin typeface="Arial MT"/>
                <a:cs typeface="Arial MT"/>
              </a:rPr>
              <a:t>Accuracy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3F4A3CAF-0915-4363-B37C-0926E7B25181}"/>
              </a:ext>
            </a:extLst>
          </p:cNvPr>
          <p:cNvSpPr/>
          <p:nvPr/>
        </p:nvSpPr>
        <p:spPr>
          <a:xfrm>
            <a:off x="9406890" y="4892675"/>
            <a:ext cx="9220200" cy="3352800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9823450" y="4130675"/>
            <a:ext cx="8387080" cy="666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spc="250" dirty="0">
                <a:solidFill>
                  <a:srgbClr val="212121"/>
                </a:solidFill>
                <a:latin typeface="Calibri"/>
                <a:cs typeface="Calibri"/>
              </a:rPr>
              <a:t>Ready</a:t>
            </a:r>
            <a:r>
              <a:rPr sz="4250" spc="2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4250" spc="8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425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4250" spc="155" dirty="0">
                <a:solidFill>
                  <a:srgbClr val="242424"/>
                </a:solidFill>
                <a:latin typeface="Calibri"/>
                <a:cs typeface="Calibri"/>
              </a:rPr>
              <a:t>Production</a:t>
            </a:r>
            <a:r>
              <a:rPr lang="en-US" sz="4250" spc="155" dirty="0">
                <a:solidFill>
                  <a:srgbClr val="242424"/>
                </a:solidFill>
                <a:latin typeface="Calibri"/>
                <a:cs typeface="Calibri"/>
              </a:rPr>
              <a:t>:</a:t>
            </a:r>
            <a:endParaRPr sz="425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2F0E2-C89B-4ABC-85E5-B00735FC8364}"/>
              </a:ext>
            </a:extLst>
          </p:cNvPr>
          <p:cNvSpPr txBox="1"/>
          <p:nvPr/>
        </p:nvSpPr>
        <p:spPr>
          <a:xfrm>
            <a:off x="925676" y="4435475"/>
            <a:ext cx="33536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solidFill>
                  <a:schemeClr val="accent6">
                    <a:lumMod val="50000"/>
                  </a:schemeClr>
                </a:solidFill>
              </a:rPr>
              <a:t>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C9D50-3D71-44E6-A95B-8256C59F5CBC}"/>
              </a:ext>
            </a:extLst>
          </p:cNvPr>
          <p:cNvSpPr txBox="1"/>
          <p:nvPr/>
        </p:nvSpPr>
        <p:spPr>
          <a:xfrm>
            <a:off x="9771380" y="5142915"/>
            <a:ext cx="8463280" cy="285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" marR="5080" indent="3175">
              <a:lnSpc>
                <a:spcPct val="113599"/>
              </a:lnSpc>
              <a:spcBef>
                <a:spcPts val="1430"/>
              </a:spcBef>
            </a:pPr>
            <a:r>
              <a:rPr lang="en-US" sz="3200" b="1" spc="-165" dirty="0">
                <a:solidFill>
                  <a:schemeClr val="tx1"/>
                </a:solidFill>
                <a:latin typeface="Arial MT"/>
                <a:cs typeface="Arial MT"/>
              </a:rPr>
              <a:t>Our</a:t>
            </a:r>
            <a:r>
              <a:rPr lang="en-US" sz="3200" b="1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50" dirty="0">
                <a:solidFill>
                  <a:schemeClr val="tx1"/>
                </a:solidFill>
                <a:latin typeface="Arial MT"/>
                <a:cs typeface="Arial MT"/>
              </a:rPr>
              <a:t>model</a:t>
            </a:r>
            <a:r>
              <a:rPr lang="en-US" sz="3200" b="1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50" dirty="0">
                <a:solidFill>
                  <a:schemeClr val="tx1"/>
                </a:solidFill>
                <a:latin typeface="Arial MT"/>
                <a:cs typeface="Arial MT"/>
              </a:rPr>
              <a:t>has</a:t>
            </a:r>
            <a:r>
              <a:rPr lang="en-US" sz="3200" b="1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55" dirty="0">
                <a:solidFill>
                  <a:schemeClr val="tx1"/>
                </a:solidFill>
                <a:latin typeface="Arial MT"/>
                <a:cs typeface="Arial MT"/>
              </a:rPr>
              <a:t>been</a:t>
            </a:r>
            <a:r>
              <a:rPr lang="en-US" sz="3200" b="1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05" dirty="0">
                <a:solidFill>
                  <a:schemeClr val="tx1"/>
                </a:solidFill>
                <a:latin typeface="Arial MT"/>
                <a:cs typeface="Arial MT"/>
              </a:rPr>
              <a:t>tested</a:t>
            </a:r>
            <a:r>
              <a:rPr lang="en-US" sz="3200" b="1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45" dirty="0">
                <a:solidFill>
                  <a:schemeClr val="tx1"/>
                </a:solidFill>
                <a:latin typeface="Arial MT"/>
                <a:cs typeface="Arial MT"/>
              </a:rPr>
              <a:t>on</a:t>
            </a:r>
            <a:r>
              <a:rPr lang="en-US" sz="3200" b="1" spc="-8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50" dirty="0">
                <a:solidFill>
                  <a:schemeClr val="tx1"/>
                </a:solidFill>
                <a:latin typeface="Arial MT"/>
                <a:cs typeface="Arial MT"/>
              </a:rPr>
              <a:t>unseen</a:t>
            </a:r>
            <a:r>
              <a:rPr lang="en-US" sz="3200" b="1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20" dirty="0">
                <a:solidFill>
                  <a:schemeClr val="tx1"/>
                </a:solidFill>
                <a:latin typeface="Arial MT"/>
                <a:cs typeface="Arial MT"/>
              </a:rPr>
              <a:t>data</a:t>
            </a:r>
            <a:r>
              <a:rPr lang="en-US" sz="3200" b="1" spc="-9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75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lang="en-US" sz="3200" b="1" spc="-7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40" dirty="0">
                <a:solidFill>
                  <a:schemeClr val="tx1"/>
                </a:solidFill>
                <a:latin typeface="Arial MT"/>
                <a:cs typeface="Arial MT"/>
              </a:rPr>
              <a:t>ensure</a:t>
            </a:r>
            <a:r>
              <a:rPr lang="en-US" sz="3200" b="1" spc="-20" dirty="0">
                <a:solidFill>
                  <a:schemeClr val="tx1"/>
                </a:solidFill>
                <a:latin typeface="Arial MT"/>
                <a:cs typeface="Arial MT"/>
              </a:rPr>
              <a:t> it</a:t>
            </a:r>
            <a:r>
              <a:rPr lang="en-US" sz="3200" b="1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55" dirty="0">
                <a:solidFill>
                  <a:schemeClr val="tx1"/>
                </a:solidFill>
                <a:latin typeface="Arial MT"/>
                <a:cs typeface="Arial MT"/>
              </a:rPr>
              <a:t>can</a:t>
            </a:r>
            <a:r>
              <a:rPr lang="en-US" sz="3200" b="1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40" dirty="0">
                <a:solidFill>
                  <a:schemeClr val="tx1"/>
                </a:solidFill>
                <a:latin typeface="Arial MT"/>
                <a:cs typeface="Arial MT"/>
              </a:rPr>
              <a:t>predict </a:t>
            </a:r>
            <a:r>
              <a:rPr lang="en-US" sz="3200" b="1" spc="-105" dirty="0">
                <a:solidFill>
                  <a:schemeClr val="tx1"/>
                </a:solidFill>
                <a:latin typeface="Arial MT"/>
                <a:cs typeface="Arial MT"/>
              </a:rPr>
              <a:t>future</a:t>
            </a:r>
            <a:r>
              <a:rPr lang="en-US" sz="3200" b="1" spc="-6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25" dirty="0">
                <a:solidFill>
                  <a:schemeClr val="tx1"/>
                </a:solidFill>
                <a:latin typeface="Arial MT"/>
                <a:cs typeface="Arial MT"/>
              </a:rPr>
              <a:t>years</a:t>
            </a:r>
            <a:r>
              <a:rPr lang="en-US" sz="3200" b="1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75" dirty="0">
                <a:solidFill>
                  <a:schemeClr val="tx1"/>
                </a:solidFill>
                <a:latin typeface="Arial MT"/>
                <a:cs typeface="Arial MT"/>
              </a:rPr>
              <a:t>(like</a:t>
            </a:r>
            <a:r>
              <a:rPr lang="en-US" sz="3200" b="1" spc="-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50" dirty="0">
                <a:solidFill>
                  <a:schemeClr val="tx1"/>
                </a:solidFill>
                <a:latin typeface="Arial MT"/>
                <a:cs typeface="Arial MT"/>
              </a:rPr>
              <a:t>2026)</a:t>
            </a:r>
            <a:r>
              <a:rPr lang="en-US" sz="3200" b="1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25" dirty="0">
                <a:solidFill>
                  <a:schemeClr val="tx1"/>
                </a:solidFill>
                <a:latin typeface="Arial MT"/>
                <a:cs typeface="Arial MT"/>
              </a:rPr>
              <a:t>with</a:t>
            </a:r>
            <a:r>
              <a:rPr lang="en-US" sz="3200" b="1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35" dirty="0">
                <a:solidFill>
                  <a:schemeClr val="tx1"/>
                </a:solidFill>
                <a:latin typeface="Arial MT"/>
                <a:cs typeface="Arial MT"/>
              </a:rPr>
              <a:t>high</a:t>
            </a:r>
            <a:r>
              <a:rPr lang="en-US" sz="3200" b="1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30" dirty="0">
                <a:solidFill>
                  <a:schemeClr val="tx1"/>
                </a:solidFill>
                <a:latin typeface="Arial MT"/>
                <a:cs typeface="Arial MT"/>
              </a:rPr>
              <a:t>confidence.</a:t>
            </a:r>
            <a:r>
              <a:rPr lang="en-US" sz="3200" b="1" spc="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20" dirty="0">
                <a:solidFill>
                  <a:schemeClr val="tx1"/>
                </a:solidFill>
                <a:latin typeface="Arial MT"/>
                <a:cs typeface="Arial MT"/>
              </a:rPr>
              <a:t>It</a:t>
            </a:r>
            <a:r>
              <a:rPr lang="en-US" sz="3200" b="1" spc="-1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25" dirty="0">
                <a:solidFill>
                  <a:schemeClr val="tx1"/>
                </a:solidFill>
                <a:latin typeface="Arial MT"/>
                <a:cs typeface="Arial MT"/>
              </a:rPr>
              <a:t>provides</a:t>
            </a:r>
            <a:r>
              <a:rPr lang="en-US" sz="3200" b="1" spc="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3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lang="en-US" sz="3200" b="1" spc="-17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0" dirty="0">
                <a:solidFill>
                  <a:schemeClr val="tx1"/>
                </a:solidFill>
                <a:latin typeface="Arial MT"/>
                <a:cs typeface="Arial MT"/>
              </a:rPr>
              <a:t>solid </a:t>
            </a:r>
            <a:r>
              <a:rPr lang="en-US" sz="3200" b="1" spc="-120" dirty="0">
                <a:solidFill>
                  <a:schemeClr val="tx1"/>
                </a:solidFill>
                <a:latin typeface="Arial MT"/>
                <a:cs typeface="Arial MT"/>
              </a:rPr>
              <a:t>decision-</a:t>
            </a:r>
            <a:r>
              <a:rPr lang="en-US" sz="3200" b="1" spc="-145" dirty="0">
                <a:solidFill>
                  <a:schemeClr val="tx1"/>
                </a:solidFill>
                <a:latin typeface="Arial MT"/>
                <a:cs typeface="Arial MT"/>
              </a:rPr>
              <a:t>making</a:t>
            </a:r>
            <a:r>
              <a:rPr lang="en-US" sz="3200" b="1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30" dirty="0">
                <a:solidFill>
                  <a:schemeClr val="tx1"/>
                </a:solidFill>
                <a:latin typeface="Arial MT"/>
                <a:cs typeface="Arial MT"/>
              </a:rPr>
              <a:t>foundation</a:t>
            </a:r>
            <a:r>
              <a:rPr lang="en-US" sz="3200" b="1" spc="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9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lang="en-US" sz="3200" b="1" spc="-6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45" dirty="0">
                <a:solidFill>
                  <a:schemeClr val="tx1"/>
                </a:solidFill>
                <a:latin typeface="Arial MT"/>
                <a:cs typeface="Arial MT"/>
              </a:rPr>
              <a:t>pharmacy</a:t>
            </a:r>
            <a:r>
              <a:rPr lang="en-US" sz="3200" b="1" spc="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3200" b="1" spc="-10" dirty="0">
                <a:solidFill>
                  <a:schemeClr val="tx1"/>
                </a:solidFill>
                <a:latin typeface="Arial MT"/>
                <a:cs typeface="Arial MT"/>
              </a:rPr>
              <a:t>managers.</a:t>
            </a:r>
            <a:endParaRPr lang="en-US" sz="32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3736" y="788322"/>
            <a:ext cx="5545455" cy="9683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557530" algn="l"/>
              </a:tabLst>
            </a:pPr>
            <a:r>
              <a:rPr sz="9225" spc="-75" baseline="-11743" dirty="0">
                <a:solidFill>
                  <a:srgbClr val="775646"/>
                </a:solidFill>
              </a:rPr>
              <a:t>I</a:t>
            </a:r>
            <a:r>
              <a:rPr sz="9225" baseline="-11743" dirty="0">
                <a:solidFill>
                  <a:srgbClr val="775646"/>
                </a:solidFill>
              </a:rPr>
              <a:t>	</a:t>
            </a:r>
            <a:r>
              <a:rPr sz="6150" spc="-125" dirty="0"/>
              <a:t>System</a:t>
            </a:r>
            <a:r>
              <a:rPr sz="6150" spc="-295" dirty="0"/>
              <a:t> </a:t>
            </a:r>
            <a:r>
              <a:rPr sz="6150" spc="-80" dirty="0">
                <a:solidFill>
                  <a:srgbClr val="242424"/>
                </a:solidFill>
              </a:rPr>
              <a:t>Impact</a:t>
            </a:r>
            <a:endParaRPr sz="6150"/>
          </a:p>
        </p:txBody>
      </p:sp>
      <p:sp>
        <p:nvSpPr>
          <p:cNvPr id="5" name="object 5"/>
          <p:cNvSpPr txBox="1"/>
          <p:nvPr/>
        </p:nvSpPr>
        <p:spPr>
          <a:xfrm>
            <a:off x="1289050" y="3673475"/>
            <a:ext cx="7379970" cy="5012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85090" indent="-279400">
              <a:lnSpc>
                <a:spcPct val="113599"/>
              </a:lnSpc>
              <a:spcBef>
                <a:spcPts val="100"/>
              </a:spcBef>
              <a:buChar char="•"/>
              <a:tabLst>
                <a:tab pos="291465" algn="l"/>
                <a:tab pos="304165" algn="l"/>
              </a:tabLst>
            </a:pPr>
            <a:r>
              <a:rPr sz="3600" dirty="0">
                <a:solidFill>
                  <a:schemeClr val="tx1"/>
                </a:solidFill>
                <a:latin typeface="Arial MT"/>
                <a:cs typeface="Arial MT"/>
              </a:rPr>
              <a:t>	</a:t>
            </a:r>
            <a:r>
              <a:rPr sz="3600" spc="-40" dirty="0">
                <a:solidFill>
                  <a:schemeClr val="tx1"/>
                </a:solidFill>
                <a:latin typeface="Arial MT"/>
                <a:cs typeface="Arial MT"/>
              </a:rPr>
              <a:t>Automated</a:t>
            </a:r>
            <a:r>
              <a:rPr sz="3600" spc="-1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chemeClr val="tx1"/>
                </a:solidFill>
                <a:latin typeface="Arial MT"/>
                <a:cs typeface="Arial MT"/>
              </a:rPr>
              <a:t>Alerts:</a:t>
            </a:r>
            <a:r>
              <a:rPr sz="3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50" dirty="0">
                <a:solidFill>
                  <a:schemeClr val="tx1"/>
                </a:solidFill>
                <a:latin typeface="Arial MT"/>
                <a:cs typeface="Arial MT"/>
              </a:rPr>
              <a:t>High</a:t>
            </a:r>
            <a:r>
              <a:rPr sz="3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10" dirty="0">
                <a:solidFill>
                  <a:schemeClr val="tx1"/>
                </a:solidFill>
                <a:latin typeface="Arial MT"/>
                <a:cs typeface="Arial MT"/>
              </a:rPr>
              <a:t>stock</a:t>
            </a:r>
            <a:r>
              <a:rPr sz="360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25" dirty="0">
                <a:solidFill>
                  <a:schemeClr val="tx1"/>
                </a:solidFill>
                <a:latin typeface="Arial MT"/>
                <a:cs typeface="Arial MT"/>
              </a:rPr>
              <a:t>categories</a:t>
            </a:r>
            <a:r>
              <a:rPr sz="3600" spc="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90" dirty="0">
                <a:solidFill>
                  <a:schemeClr val="tx1"/>
                </a:solidFill>
                <a:latin typeface="Arial MT"/>
                <a:cs typeface="Arial MT"/>
              </a:rPr>
              <a:t>trigger</a:t>
            </a:r>
            <a:r>
              <a:rPr sz="3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70" dirty="0">
                <a:solidFill>
                  <a:schemeClr val="tx1"/>
                </a:solidFill>
                <a:latin typeface="Arial MT"/>
                <a:cs typeface="Arial MT"/>
              </a:rPr>
              <a:t>instant </a:t>
            </a:r>
            <a:r>
              <a:rPr sz="3600" spc="-130" dirty="0">
                <a:solidFill>
                  <a:schemeClr val="tx1"/>
                </a:solidFill>
                <a:latin typeface="Arial MT"/>
                <a:cs typeface="Arial MT"/>
              </a:rPr>
              <a:t>buying</a:t>
            </a:r>
            <a:r>
              <a:rPr sz="3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chemeClr val="tx1"/>
                </a:solidFill>
                <a:latin typeface="Arial MT"/>
                <a:cs typeface="Arial MT"/>
              </a:rPr>
              <a:t>signals.</a:t>
            </a:r>
            <a:endParaRPr sz="3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92100" marR="5080" indent="-280035">
              <a:lnSpc>
                <a:spcPct val="113599"/>
              </a:lnSpc>
              <a:buClr>
                <a:srgbClr val="563F31"/>
              </a:buClr>
              <a:buChar char="•"/>
              <a:tabLst>
                <a:tab pos="292100" algn="l"/>
              </a:tabLst>
            </a:pPr>
            <a:r>
              <a:rPr sz="3600" spc="-135" dirty="0">
                <a:solidFill>
                  <a:schemeClr val="tx1"/>
                </a:solidFill>
                <a:latin typeface="Arial MT"/>
                <a:cs typeface="Arial MT"/>
              </a:rPr>
              <a:t>Waste</a:t>
            </a:r>
            <a:r>
              <a:rPr sz="3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chemeClr val="tx1"/>
                </a:solidFill>
                <a:latin typeface="Arial MT"/>
                <a:cs typeface="Arial MT"/>
              </a:rPr>
              <a:t>Reduction:</a:t>
            </a:r>
            <a:r>
              <a:rPr sz="3600" spc="-1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25" dirty="0">
                <a:solidFill>
                  <a:schemeClr val="tx1"/>
                </a:solidFill>
                <a:latin typeface="Arial MT"/>
                <a:cs typeface="Arial MT"/>
              </a:rPr>
              <a:t>Estimated</a:t>
            </a:r>
            <a:r>
              <a:rPr sz="3600" spc="1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204" dirty="0">
                <a:solidFill>
                  <a:schemeClr val="tx1"/>
                </a:solidFill>
                <a:latin typeface="Arial MT"/>
                <a:cs typeface="Arial MT"/>
              </a:rPr>
              <a:t>20%</a:t>
            </a:r>
            <a:r>
              <a:rPr sz="360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25" dirty="0">
                <a:solidFill>
                  <a:schemeClr val="tx1"/>
                </a:solidFill>
                <a:latin typeface="Arial MT"/>
                <a:cs typeface="Arial MT"/>
              </a:rPr>
              <a:t>reduction</a:t>
            </a:r>
            <a:r>
              <a:rPr sz="360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95" dirty="0">
                <a:solidFill>
                  <a:schemeClr val="tx1"/>
                </a:solidFill>
                <a:latin typeface="Arial MT"/>
                <a:cs typeface="Arial MT"/>
              </a:rPr>
              <a:t>in</a:t>
            </a:r>
            <a:r>
              <a:rPr sz="36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70" dirty="0">
                <a:solidFill>
                  <a:schemeClr val="tx1"/>
                </a:solidFill>
                <a:latin typeface="Arial MT"/>
                <a:cs typeface="Arial MT"/>
              </a:rPr>
              <a:t>medicine </a:t>
            </a:r>
            <a:r>
              <a:rPr sz="3600" spc="-120" dirty="0">
                <a:solidFill>
                  <a:schemeClr val="tx1"/>
                </a:solidFill>
                <a:latin typeface="Arial MT"/>
                <a:cs typeface="Arial MT"/>
              </a:rPr>
              <a:t>expiration</a:t>
            </a:r>
            <a:r>
              <a:rPr sz="36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chemeClr val="tx1"/>
                </a:solidFill>
                <a:latin typeface="Arial MT"/>
                <a:cs typeface="Arial MT"/>
              </a:rPr>
              <a:t>waste.</a:t>
            </a:r>
            <a:endParaRPr sz="3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89560" marR="250190" indent="-277495">
              <a:lnSpc>
                <a:spcPct val="113599"/>
              </a:lnSpc>
              <a:buClr>
                <a:srgbClr val="62463A"/>
              </a:buClr>
              <a:buChar char="•"/>
              <a:tabLst>
                <a:tab pos="293370" algn="l"/>
              </a:tabLst>
            </a:pPr>
            <a:r>
              <a:rPr sz="3600" spc="-40" dirty="0">
                <a:solidFill>
                  <a:schemeClr val="tx1"/>
                </a:solidFill>
                <a:latin typeface="Arial MT"/>
                <a:cs typeface="Arial MT"/>
              </a:rPr>
              <a:t>Smart</a:t>
            </a:r>
            <a:r>
              <a:rPr sz="3600" spc="-1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55" dirty="0">
                <a:solidFill>
                  <a:schemeClr val="tx1"/>
                </a:solidFill>
                <a:latin typeface="Arial MT"/>
                <a:cs typeface="Arial MT"/>
              </a:rPr>
              <a:t>Healthcare:</a:t>
            </a:r>
            <a:r>
              <a:rPr sz="360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204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3600" spc="-17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20" dirty="0">
                <a:solidFill>
                  <a:schemeClr val="tx1"/>
                </a:solidFill>
                <a:latin typeface="Arial MT"/>
                <a:cs typeface="Arial MT"/>
              </a:rPr>
              <a:t>step</a:t>
            </a:r>
            <a:r>
              <a:rPr sz="3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30" dirty="0">
                <a:solidFill>
                  <a:schemeClr val="tx1"/>
                </a:solidFill>
                <a:latin typeface="Arial MT"/>
                <a:cs typeface="Arial MT"/>
              </a:rPr>
              <a:t>towards</a:t>
            </a:r>
            <a:r>
              <a:rPr sz="3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90" dirty="0">
                <a:solidFill>
                  <a:schemeClr val="tx1"/>
                </a:solidFill>
                <a:latin typeface="Arial MT"/>
                <a:cs typeface="Arial MT"/>
              </a:rPr>
              <a:t>fully</a:t>
            </a:r>
            <a:r>
              <a:rPr sz="3600" spc="-7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30" dirty="0">
                <a:solidFill>
                  <a:schemeClr val="tx1"/>
                </a:solidFill>
                <a:latin typeface="Arial MT"/>
                <a:cs typeface="Arial MT"/>
              </a:rPr>
              <a:t>automated,</a:t>
            </a:r>
            <a:r>
              <a:rPr sz="360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chemeClr val="tx1"/>
                </a:solidFill>
                <a:latin typeface="Arial MT"/>
                <a:cs typeface="Arial MT"/>
              </a:rPr>
              <a:t>AI</a:t>
            </a:r>
            <a:r>
              <a:rPr lang="en-US" sz="3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125" dirty="0">
                <a:solidFill>
                  <a:schemeClr val="tx1"/>
                </a:solidFill>
                <a:latin typeface="Arial MT"/>
                <a:cs typeface="Arial MT"/>
              </a:rPr>
              <a:t>driven</a:t>
            </a:r>
            <a:r>
              <a:rPr sz="3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chemeClr val="tx1"/>
                </a:solidFill>
                <a:latin typeface="Arial MT"/>
                <a:cs typeface="Arial MT"/>
              </a:rPr>
              <a:t>hospitals</a:t>
            </a:r>
            <a:r>
              <a:rPr sz="2450" spc="-25" dirty="0">
                <a:solidFill>
                  <a:srgbClr val="414141"/>
                </a:solidFill>
                <a:latin typeface="Arial MT"/>
                <a:cs typeface="Arial MT"/>
              </a:rPr>
              <a:t>.</a:t>
            </a:r>
            <a:endParaRPr sz="245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7A71D-D4E0-4315-9480-D3491664A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823450" y="2416175"/>
            <a:ext cx="8636000" cy="6477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0150" spc="-500" dirty="0">
                <a:solidFill>
                  <a:srgbClr val="2B2B2B"/>
                </a:solidFill>
                <a:latin typeface="Cambria"/>
                <a:cs typeface="Cambria"/>
              </a:rPr>
              <a:t>Thank</a:t>
            </a:r>
            <a:r>
              <a:rPr sz="10150" spc="819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10150" spc="-375" dirty="0">
                <a:solidFill>
                  <a:srgbClr val="2B2B2B"/>
                </a:solidFill>
                <a:latin typeface="Cambria"/>
                <a:cs typeface="Cambria"/>
              </a:rPr>
              <a:t>You!</a:t>
            </a:r>
            <a:endParaRPr sz="10150">
              <a:latin typeface="Cambria"/>
              <a:cs typeface="Cambria"/>
            </a:endParaRPr>
          </a:p>
          <a:p>
            <a:pPr marL="15240" algn="ctr">
              <a:lnSpc>
                <a:spcPct val="100000"/>
              </a:lnSpc>
              <a:spcBef>
                <a:spcPts val="2290"/>
              </a:spcBef>
            </a:pPr>
            <a:r>
              <a:rPr sz="3100" spc="-160" dirty="0">
                <a:solidFill>
                  <a:srgbClr val="896D60"/>
                </a:solidFill>
                <a:latin typeface="Courier New"/>
                <a:cs typeface="Courier New"/>
              </a:rPr>
              <a:t>Ouestions</a:t>
            </a:r>
            <a:r>
              <a:rPr sz="3100" spc="-320" dirty="0">
                <a:solidFill>
                  <a:srgbClr val="896D6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957569"/>
                </a:solidFill>
                <a:latin typeface="Courier New"/>
                <a:cs typeface="Courier New"/>
              </a:rPr>
              <a:t>&amp;</a:t>
            </a:r>
            <a:r>
              <a:rPr sz="3100" spc="65" dirty="0">
                <a:solidFill>
                  <a:srgbClr val="957569"/>
                </a:solidFill>
                <a:latin typeface="Courier New"/>
                <a:cs typeface="Courier New"/>
              </a:rPr>
              <a:t> </a:t>
            </a:r>
            <a:r>
              <a:rPr sz="3100" spc="-60" dirty="0">
                <a:solidFill>
                  <a:srgbClr val="8A7067"/>
                </a:solidFill>
                <a:latin typeface="Courier New"/>
                <a:cs typeface="Courier New"/>
              </a:rPr>
              <a:t>Discussion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53440" y="6816935"/>
            <a:ext cx="619696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solidFill>
                  <a:srgbClr val="181818"/>
                </a:solidFill>
                <a:latin typeface="Arial MT"/>
                <a:cs typeface="Arial MT"/>
              </a:rPr>
              <a:t>AI-</a:t>
            </a:r>
            <a:r>
              <a:rPr sz="2050" dirty="0">
                <a:solidFill>
                  <a:srgbClr val="181818"/>
                </a:solidFill>
                <a:latin typeface="Arial MT"/>
                <a:cs typeface="Arial MT"/>
              </a:rPr>
              <a:t>Driven</a:t>
            </a:r>
            <a:r>
              <a:rPr sz="205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181818"/>
                </a:solidFill>
                <a:latin typeface="Arial MT"/>
                <a:cs typeface="Arial MT"/>
              </a:rPr>
              <a:t>Healthcare</a:t>
            </a:r>
            <a:r>
              <a:rPr sz="2050" spc="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050" spc="60" dirty="0">
                <a:solidFill>
                  <a:srgbClr val="1C1C1C"/>
                </a:solidFill>
                <a:latin typeface="Arial MT"/>
                <a:cs typeface="Arial MT"/>
              </a:rPr>
              <a:t>Logistics</a:t>
            </a:r>
            <a:r>
              <a:rPr sz="205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161616"/>
                </a:solidFill>
                <a:latin typeface="Arial MT"/>
                <a:cs typeface="Arial MT"/>
              </a:rPr>
              <a:t>Management</a:t>
            </a:r>
            <a:r>
              <a:rPr sz="2050" spc="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1F1F1F"/>
                </a:solidFill>
                <a:latin typeface="Arial MT"/>
                <a:cs typeface="Arial MT"/>
              </a:rPr>
              <a:t>System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382</Words>
  <Application>Microsoft Office PowerPoint</Application>
  <PresentationFormat>Custom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Cambria</vt:lpstr>
      <vt:lpstr>Courier New</vt:lpstr>
      <vt:lpstr>Office Theme</vt:lpstr>
      <vt:lpstr>Smart Pharmacy Inventory</vt:lpstr>
      <vt:lpstr>PowerPoint Presentation</vt:lpstr>
      <vt:lpstr>I The Problem We Solve</vt:lpstr>
      <vt:lpstr>I Understanding the Data</vt:lpstr>
      <vt:lpstr>I The Hybrid AI Approach</vt:lpstr>
      <vt:lpstr>I Performance Comparison</vt:lpstr>
      <vt:lpstr>I Classification Logic</vt:lpstr>
      <vt:lpstr>PowerPoint Presentation</vt:lpstr>
      <vt:lpstr>I System Impact</vt:lpstr>
      <vt:lpstr>Thank You! Ouestions &amp;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CT</dc:creator>
  <cp:lastModifiedBy>09-239242-020</cp:lastModifiedBy>
  <cp:revision>8</cp:revision>
  <dcterms:created xsi:type="dcterms:W3CDTF">2026-05-16T16:38:05Z</dcterms:created>
  <dcterms:modified xsi:type="dcterms:W3CDTF">2026-05-17T10:40:18Z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2026-05-16T00:00:00Z</vt:filetime>
  </property>
  <property fmtid="{D5CDD505-2E9C-101B-9397-08002B2CF9AE}" pid="3" name="LastSaved">
    <vt:filetime>2026-05-16T00:00:00Z</vt:filetime>
  </property>
</Properties>
</file>